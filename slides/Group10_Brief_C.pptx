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346" autoAdjust="0"/>
  </p:normalViewPr>
  <p:slideViewPr>
    <p:cSldViewPr snapToGrid="0" snapToObjects="1">
      <p:cViewPr varScale="1">
        <p:scale>
          <a:sx n="65" d="100"/>
          <a:sy n="65" d="100"/>
        </p:scale>
        <p:origin x="1330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4357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Source: Rishabh branch, docs/brief-c-analysis.md. H1 2026 invoices and captures, observed through 15 July. This is provisional and does not prove permanent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Quote from Rishabh branch project statement. State invoice and attempt grains are different. Failed attempts do not represent collected cash.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H1 close = 30 June 2026 23:59 IST; observation through 15 July. At close 11,571 invoices had no captured match (face value ₹1.945 </a:t>
            </a:r>
            <a:r>
              <a:rPr dirty="0" err="1"/>
              <a:t>cr</a:t>
            </a:r>
            <a:r>
              <a:rPr dirty="0"/>
              <a:t>), another 15 were partly paid (₹0.002 </a:t>
            </a:r>
            <a:r>
              <a:rPr dirty="0" err="1"/>
              <a:t>cr</a:t>
            </a:r>
            <a:r>
              <a:rPr dirty="0"/>
              <a:t> remaining). Positive balances ₹1.947 cr. This diagram is directional, not an arithmetic waterfall: face value of invoices with later captures differs from exact decrease in positive balances.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Figures sourced from docs/brief-c-analysis.md on Rishabh branch. Do not label unpaid as lost or unmatched captures as fraud. Different H1 invoice and H1 payment cohorts are deliberately not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Source Rishabh branch docs/brief-c-analysis.md. £ is not relevant; all numbers are INR. The H1 captured unmatched attempts come from a payment-attempt cohort; H1 invoice balances come from invoice cohort. They are distinct lenses and are not additive.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Financial numbers and match methods from Rishabh branch docs/brief-c-analysis.md and docs/decisions-log.md. The ₹0.608cr is diagnostic due to differing timing windows and lack of independent bank/cash evidence. Source stated synthetic fixture works; full-pack cold run not confirmed.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June is a prioritization signal not a causal diagnosis. Explicitly distinguish proposed next steps from actions documented as completed. Reproducible full-pack cold run is not confirmed in the repository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corresponding branch and log during questioning. The two branches show different maturity levels; never confuse preliminary full-window totals with final H1 cohort calculations.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Rishabh branch decisions log C9-C13; the feature/brief-c-vysag branch separately documented 1,925 invoice references with multiple payments and a notebook 02 kernel issue.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invent a cold run, runtime, or commit. Rishabh challenges-log says full-pack cold run remains needed. Vysag feature branch describes troubleshooting and provisional full-window financial investigation.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A0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45920" y="502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9A7FF"/>
                </a:solidFill>
                <a:latin typeface="Arial"/>
              </a:rPr>
              <a:t>PG Diploma in AI-ML and Agentic AI Engineering · Cohort 2 · Build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4572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085CC"/>
                </a:solidFill>
                <a:latin typeface="Aptos"/>
              </a:rPr>
              <a:t>BRIEF C  ·  MONEY RECONCILIATION  ·  GROUP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51760"/>
            <a:ext cx="10972800" cy="61555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dirty="0">
                <a:solidFill>
                  <a:schemeClr val="bg1"/>
                </a:solidFill>
                <a:latin typeface="Aptos"/>
              </a:rPr>
              <a:t>Which invoices were unpaid, unmatched or simply late?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058400" cy="40011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dirty="0">
                <a:solidFill>
                  <a:schemeClr val="bg1"/>
                </a:solidFill>
                <a:latin typeface="Aptos"/>
              </a:rPr>
              <a:t>At 15 July: ₹1.648 crore remains open across 9,824 H1 invoices (6.14% of H1 billings).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0972800" cy="353943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dirty="0">
                <a:solidFill>
                  <a:schemeClr val="bg1"/>
                </a:solidFill>
                <a:latin typeface="Aptos"/>
              </a:rPr>
              <a:t>Kalpa Health  ·  Cohort 2  ·  Build 1  ·  25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1 · THE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1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1263A"/>
                </a:solidFill>
                <a:latin typeface="Aptos"/>
              </a:rPr>
              <a:t>The COO wants a reconciled answer—not two unrelated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2100" b="0">
                <a:solidFill>
                  <a:srgbClr val="11263A"/>
                </a:solidFill>
                <a:latin typeface="Aptos"/>
              </a:rPr>
              <a:t>“Which invoices were never paid, which payments match no invoice, and how much of the gap is only timing?”</a:t>
            </a:r>
          </a:p>
          <a:p>
            <a:pPr>
              <a:spcAft>
                <a:spcPts val="1200"/>
              </a:spcAft>
            </a:pPr>
            <a:endParaRPr sz="21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1263A"/>
                </a:solidFill>
                <a:latin typeface="Aptos"/>
              </a:rPr>
              <a:t>Our translation: Match H1 invoices to eligible captured payments, trace exceptions and separate post-close receipts.</a:t>
            </a:r>
          </a:p>
          <a:p>
            <a:pPr>
              <a:spcAft>
                <a:spcPts val="1200"/>
              </a:spcAft>
            </a:pPr>
            <a:endParaRPr sz="21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1263A"/>
                </a:solidFill>
                <a:latin typeface="Aptos"/>
              </a:rPr>
              <a:t>Decision: Which invoices and unmatched captures should Finance investigate first?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2 · THE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2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1263A"/>
                </a:solidFill>
                <a:latin typeface="Aptos"/>
              </a:rPr>
              <a:t>A controlled invoice-to-payment bridge, with timing separated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11247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956816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H1 INVOICES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58568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162,876  |  ₹26.828 cr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847088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9432" y="1956816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CAPTURES BY 30 JUN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258568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₹24.998 cr matched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1847088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956816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POSITIVE BALANCE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58568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₹1.947 cr  |  11,586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3867912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14600" y="3977640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LATER CAPTURES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279392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₹0.298 cr face value*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3867912"/>
            <a:ext cx="3246120" cy="1051560"/>
          </a:xfrm>
          <a:prstGeom prst="roundRect">
            <a:avLst/>
          </a:prstGeom>
          <a:solidFill>
            <a:srgbClr val="EB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0" y="3977640"/>
            <a:ext cx="2971800" cy="2560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556572"/>
                </a:solidFill>
                <a:latin typeface="Aptos"/>
              </a:rPr>
              <a:t>OPEN BY 15 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79392"/>
            <a:ext cx="2971800" cy="48463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100" b="1">
                <a:solidFill>
                  <a:srgbClr val="1A3E5C"/>
                </a:solidFill>
                <a:latin typeface="Aptos"/>
              </a:rPr>
              <a:t>₹1.648 cr  |  9,824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8224" y="2075688"/>
            <a:ext cx="365760" cy="502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900" b="1">
                <a:solidFill>
                  <a:srgbClr val="0085CC"/>
                </a:solidFill>
                <a:latin typeface="Apto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075688"/>
            <a:ext cx="365760" cy="5029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2900" b="1">
                <a:solidFill>
                  <a:srgbClr val="0085CC"/>
                </a:solidFill>
                <a:latin typeface="Aptos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8" y="3154680"/>
            <a:ext cx="1417320" cy="4114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0085CC"/>
                </a:solidFill>
                <a:latin typeface="Aptos"/>
              </a:rPr>
              <a:t>↓ timing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10789920" cy="38404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200" b="0">
                <a:solidFill>
                  <a:srgbClr val="556572"/>
                </a:solidFill>
                <a:latin typeface="Aptos"/>
              </a:rPr>
              <a:t>* Later-capture figure is face value of the formerly no-capture invoices; it is not a direct arithmetic bridge subtraction.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3 · THE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3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263A"/>
                </a:solidFill>
                <a:latin typeface="Aptos"/>
              </a:rPr>
              <a:t>One board-ready sentence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2377440"/>
          </a:xfrm>
          <a:prstGeom prst="roundRect">
            <a:avLst>
              <a:gd name="adj" fmla="val 8000"/>
            </a:avLst>
          </a:prstGeom>
          <a:solidFill>
            <a:srgbClr val="EEE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Of ₹26.828 crore billed in H1 2026, ₹1.648 crore (6.14%) remained open across 9,824 invoices by 15 July; 1,541 H1 captured attempts worth ₹0.267 crore also lacked a safe invoice match.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4 ·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4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Three checks identify the work Finance should prioritize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4754880" cy="433965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₹1.947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cr</a:t>
            </a: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Positive balances at 30 Jun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11,586 of 162,876 invoices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₹1.648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cr</a:t>
            </a: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Still open by 15 Jul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9,824 H1 invoices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₹0.267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cr</a:t>
            </a: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H1 captured but unmatched</a:t>
            </a:r>
            <a:endParaRPr lang="en-US"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lang="en-US" sz="1600" b="0" dirty="0">
                <a:solidFill>
                  <a:srgbClr val="11263A"/>
                </a:solidFill>
                <a:latin typeface="+mj-lt"/>
              </a:rPr>
              <a:t>1,541 of 156,458 captured attempts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645920"/>
            <a:ext cx="62179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9D2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24144" y="1929384"/>
            <a:ext cx="5669280" cy="353872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89320" y="2139696"/>
            <a:ext cx="5029200" cy="329184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556572"/>
                </a:solidFill>
                <a:latin typeface="Aptos"/>
              </a:rPr>
              <a:t>FINANCE EXCEPTION AMOUNTS  ·  ₹ CRORE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743200"/>
            <a:ext cx="2560320" cy="2926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11263A"/>
                </a:solidFill>
                <a:latin typeface="Aptos"/>
              </a:rPr>
              <a:t>At H1 close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9912" y="2761488"/>
            <a:ext cx="1780336" cy="301752"/>
          </a:xfrm>
          <a:prstGeom prst="roundRect">
            <a:avLst/>
          </a:prstGeom>
          <a:solidFill>
            <a:srgbClr val="1A3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15016" y="2724912"/>
            <a:ext cx="731520" cy="3474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11263A"/>
                </a:solidFill>
                <a:latin typeface="Aptos"/>
              </a:rPr>
              <a:t>1.947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593592"/>
            <a:ext cx="2560320" cy="2926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11263A"/>
                </a:solidFill>
                <a:latin typeface="Aptos"/>
              </a:rPr>
              <a:t>Open at 15 Jul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9912" y="3611880"/>
            <a:ext cx="1506931" cy="301752"/>
          </a:xfrm>
          <a:prstGeom prst="roundRect">
            <a:avLst/>
          </a:prstGeom>
          <a:solidFill>
            <a:srgbClr val="008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15016" y="3575304"/>
            <a:ext cx="731520" cy="3474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11263A"/>
                </a:solidFill>
                <a:latin typeface="Aptos"/>
              </a:rPr>
              <a:t>1.648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443984"/>
            <a:ext cx="2560320" cy="29260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0">
                <a:solidFill>
                  <a:srgbClr val="11263A"/>
                </a:solidFill>
                <a:latin typeface="Aptos"/>
              </a:rPr>
              <a:t>Unmatched H1 captures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9912" y="4462272"/>
            <a:ext cx="244144" cy="301752"/>
          </a:xfrm>
          <a:prstGeom prst="roundRect">
            <a:avLst/>
          </a:prstGeom>
          <a:solidFill>
            <a:srgbClr val="CC3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15016" y="4425696"/>
            <a:ext cx="731520" cy="34747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11263A"/>
                </a:solidFill>
                <a:latin typeface="Aptos"/>
              </a:rPr>
              <a:t>0.267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5010912"/>
            <a:ext cx="5257800" cy="39319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0"/>
              </a:spcAft>
            </a:pPr>
            <a:r>
              <a:rPr sz="1100" b="0">
                <a:solidFill>
                  <a:srgbClr val="556572"/>
                </a:solidFill>
                <a:latin typeface="Aptos"/>
              </a:rPr>
              <a:t>Different populations; bars are amounts, not components to add.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5 · THE CAVEAT AND THE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5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What could change the answer—and why we refused fuzzy matches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Primary caveat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Finance must confirm complete source coverage, due dates, refunds/reversals, clinic cash and settlement-to-bank receipts. An open balance is not necessarily a loss.</a:t>
            </a:r>
          </a:p>
          <a:p>
            <a:pPr>
              <a:spcAft>
                <a:spcPts val="1200"/>
              </a:spcAft>
            </a:pPr>
            <a:endParaRPr sz="19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Rejected approach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Match payments to invoices on similar amount or date. It risks pairing unrelated visits. We used exact invoice IDs, then separator-normalized IDs only when unique; unresolved records stayed unmatched.</a:t>
            </a:r>
          </a:p>
          <a:p>
            <a:pPr>
              <a:spcAft>
                <a:spcPts val="1200"/>
              </a:spcAft>
            </a:pPr>
            <a:endParaRPr sz="19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Independent check</a:t>
            </a:r>
          </a:p>
          <a:p>
            <a:pPr>
              <a:spcAft>
                <a:spcPts val="1200"/>
              </a:spcAft>
            </a:pPr>
            <a:r>
              <a:rPr sz="1900" b="0">
                <a:solidFill>
                  <a:srgbClr val="11263A"/>
                </a:solidFill>
                <a:latin typeface="Aptos"/>
              </a:rPr>
              <a:t>H1 settlement-linked captures exceeded settlement gross by ₹0.608 crore—unresolved, not a proven bank shortage.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6 · THE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6 / 6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1263A"/>
                </a:solidFill>
                <a:latin typeface="Aptos"/>
              </a:rPr>
              <a:t>A Finance exception queue—not an unsupported loss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20"/>
            <a:ext cx="11247120" cy="42062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DO FIRST  ·  Review June invoices: ₹0.755 crore remained open by 15 July, 45.8% of the total open balance.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THEN  ·  Investigate 1,541 unmatched H1 captured attempts (₹0.267 crore), preserving raw references and source rows.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EFFORT  ·  Finance + billing + gateway owners: validate IDs, capture cutoffs, refunds, cash and settlement batches. Cost and staffing not estimated in source.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IF WRONG  ·  False matches may hide genuine exceptions; treating late receipts as losses may drive incorrect collection action.</a:t>
            </a:r>
          </a:p>
          <a:p>
            <a:pPr>
              <a:spcAft>
                <a:spcPts val="1200"/>
              </a:spcAft>
            </a:pPr>
            <a:endParaRPr sz="1800" b="0">
              <a:solidFill>
                <a:srgbClr val="11263A"/>
              </a:solidFill>
              <a:latin typeface="Aptos"/>
            </a:endParaRP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1263A"/>
                </a:solidFill>
                <a:latin typeface="Aptos"/>
              </a:rPr>
              <a:t>TWO MORE DAYS  ·  Complete an independent full-pack cold run and close settlement-to-bank coverage.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A0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10972800" cy="109728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ptos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005840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Aptos"/>
              </a:rPr>
              <a:t>Audit trail: github.com/RishabhInTech/c2-build1-brief-C-group-10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Aptos"/>
              </a:rPr>
              <a:t>Rishabh branch: docs/brief-c-analysis.md · docs/decisions-log.md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Aptos"/>
              </a:rPr>
              <a:t>feature/brief-c-vysag: docs/approach-log.md · docs/challenges-log.md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7 / 8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1263A"/>
                </a:solidFill>
                <a:latin typeface="Aptos"/>
              </a:rPr>
              <a:t>Appendix A · Rules that protect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1456"/>
            <a:ext cx="11247120" cy="4585871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1  Reporting population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H1 invoices dated Jan–Jun; captured payment events evaluated at 30 June and again at 15 July.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2  Safe matching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Exact invoice ID, then hyphen-stripped canonical key only when unique; no amount/date fuzzy pairing.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3  Invoice-level balances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Aggregate captured payments per invoice. Do not double-count invoices with repeated payment attempts; do not offset unrelated </a:t>
            </a:r>
            <a:r>
              <a:rPr sz="1600" b="0" dirty="0" err="1">
                <a:solidFill>
                  <a:srgbClr val="11263A"/>
                </a:solidFill>
                <a:latin typeface="+mj-lt"/>
              </a:rPr>
              <a:t>overcaptures</a:t>
            </a:r>
            <a:r>
              <a:rPr sz="1600" b="0" dirty="0">
                <a:solidFill>
                  <a:srgbClr val="11263A"/>
                </a:solidFill>
                <a:latin typeface="+mj-lt"/>
              </a:rPr>
              <a:t>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+mj-lt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4  Preserve exceptions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+mj-lt"/>
              </a:rPr>
              <a:t>Failed attempts are not cash. Unmatched and irregular references remain visible for Finance.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>
              <a:gd name="adj" fmla="val 8000"/>
            </a:avLst>
          </a:prstGeom>
          <a:solidFill>
            <a:srgbClr val="4E3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4E38AB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228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690"/>
                </a:solidFill>
                <a:latin typeface="Arial"/>
              </a:rPr>
              <a:t>8 / 8</a:t>
            </a:r>
          </a:p>
        </p:txBody>
      </p:sp>
      <p:pic>
        <p:nvPicPr>
          <p:cNvPr id="5" name="Picture 4" descr="iitgn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63640"/>
            <a:ext cx="411480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B6690"/>
                </a:solidFill>
                <a:latin typeface="Arial"/>
              </a:rPr>
              <a:t>Indian Institute of Technology Gandhinagar · PG Diploma in AI-ML and Agentic AI Engineering · Cohort 2 · Build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91440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1263A"/>
                </a:solidFill>
                <a:latin typeface="Aptos"/>
              </a:rPr>
              <a:t>Appendix B · Rebuild status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11624"/>
            <a:ext cx="11247120" cy="483209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REPORTED WORKFLOW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Clean finance pack → normalize safe IDs → reconcile invoice-level captures → review H1 cutoff and 15 July → export exception summaries.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DOCUMENTED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H1 bridge values and audit rules are reported in the Rishabh branch. A synthetic integration fixture passed.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IS NOT YET CONFIRMED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independent fresh-</a:t>
            </a:r>
            <a:r>
              <a:rPr sz="1600" b="0" dirty="0" err="1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Codespace</a:t>
            </a: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full-pack cold run, runtime and matching slide-claim commit SHA are not recorded.</a:t>
            </a:r>
          </a:p>
          <a:p>
            <a:pPr>
              <a:spcAft>
                <a:spcPts val="1200"/>
              </a:spcAft>
            </a:pPr>
            <a:endParaRPr sz="1600" b="0" dirty="0">
              <a:solidFill>
                <a:srgbClr val="11263A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VYSAG BRANCH LEARNING</a:t>
            </a:r>
          </a:p>
          <a:p>
            <a:pPr>
              <a:spcAft>
                <a:spcPts val="1200"/>
              </a:spcAft>
            </a:pPr>
            <a:r>
              <a:rPr sz="1600" b="0" dirty="0">
                <a:solidFill>
                  <a:srgbClr val="11263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 02 kernel crashes; invoice/payment profiling continued independently in Notebook 03. Raw full-window counts must not be presented as H1 receipts.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1375</Words>
  <Application>Microsoft Office PowerPoint</Application>
  <PresentationFormat>Widescreen</PresentationFormat>
  <Paragraphs>130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rishabh kothari</dc:creator>
  <cp:keywords/>
  <dc:description>generated using python-pptx</dc:description>
  <cp:lastModifiedBy>rishabh kothari</cp:lastModifiedBy>
  <cp:revision>2</cp:revision>
  <dcterms:created xsi:type="dcterms:W3CDTF">2013-01-27T09:14:16Z</dcterms:created>
  <dcterms:modified xsi:type="dcterms:W3CDTF">2026-10-25T11:50:58Z</dcterms:modified>
  <cp:category/>
</cp:coreProperties>
</file>
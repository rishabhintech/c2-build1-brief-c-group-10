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question and the claim, nothing else. Twenty seconds. The cover is read, not presented.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Her words first, then the translation in one line, then the decision. If the panel does not know what decision hangs on your answer by the end of this slide, nothing after it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Point at two numbers on the picture, the two that carry the claim. Do not read the diagram aloud.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sentence. Stop. Count to two. The silence is the point; the slide has one sentence on it so the room reads it twice.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Each number with its denominator, said aloud. Point at the chart's axis label where the denominator is written. This is the slide the finance controller checks against the decisions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One caveat, chosen, with its size. One rejected alternative from the approach log. This slide is where the panel decides whether you thought or just computed.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End on the cost of being wrong. No thanks, no summary, no inspirational closing line. Then say 'questions' and stop talking.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 When asked 'why this and not that', open the approach-log row on screen rather than answering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shown only if the panel asks. Do not present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shown only if the panel asks. Do not present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itgn_seal.png"/>
          <p:cNvPicPr>
            <a:picLocks noChangeAspect="1"/>
          </p:cNvPicPr>
          <p:nvPr/>
        </p:nvPicPr>
        <p:blipFill>
          <a:blip r:embed="rId2"/>
          <a:stretch>
            <a:fillRect/>
          </a:stretch>
        </p:blipFill>
        <p:spPr>
          <a:xfrm>
            <a:off x="548640" y="457200"/>
            <a:ext cx="914400" cy="914400"/>
          </a:xfrm>
          <a:prstGeom prst="rect">
            <a:avLst/>
          </a:prstGeom>
        </p:spPr>
      </p:pic>
      <p:sp>
        <p:nvSpPr>
          <p:cNvPr id="4" name="TextBox 3"/>
          <p:cNvSpPr txBox="1"/>
          <p:nvPr/>
        </p:nvSpPr>
        <p:spPr>
          <a:xfrm>
            <a:off x="1645920" y="502920"/>
            <a:ext cx="8229600" cy="457200"/>
          </a:xfrm>
          <a:prstGeom prst="rect">
            <a:avLst/>
          </a:prstGeom>
          <a:noFill/>
        </p:spPr>
        <p:txBody>
          <a:bodyPr wrap="square">
            <a:spAutoFit/>
          </a:bodyPr>
          <a:lstStyle/>
          <a:p>
            <a:pPr algn="l"/>
            <a:r>
              <a:rPr sz="1100" b="1">
                <a:solidFill>
                  <a:srgbClr val="FFFFFF"/>
                </a:solidFill>
                <a:latin typeface="Arial"/>
              </a:rPr>
              <a:t>INDIAN INSTITUTE OF TECHNOLOGY GANDHINAGAR</a:t>
            </a:r>
          </a:p>
        </p:txBody>
      </p:sp>
      <p:sp>
        <p:nvSpPr>
          <p:cNvPr id="5" name="TextBox 4"/>
          <p:cNvSpPr txBox="1"/>
          <p:nvPr/>
        </p:nvSpPr>
        <p:spPr>
          <a:xfrm>
            <a:off x="1645920" y="868680"/>
            <a:ext cx="8229600" cy="457200"/>
          </a:xfrm>
          <a:prstGeom prst="rect">
            <a:avLst/>
          </a:prstGeom>
          <a:noFill/>
        </p:spPr>
        <p:txBody>
          <a:bodyPr wrap="square">
            <a:spAutoFit/>
          </a:bodyPr>
          <a:lstStyle/>
          <a:p>
            <a:pPr algn="l"/>
            <a:r>
              <a:rPr sz="1100" b="0">
                <a:solidFill>
                  <a:srgbClr val="D9A7FF"/>
                </a:solidFill>
                <a:latin typeface="Arial"/>
              </a:rPr>
              <a:t>PG Diploma in AI-ML and Agentic AI Engineering · Cohort 2 · Build 1</a:t>
            </a:r>
          </a:p>
        </p:txBody>
      </p:sp>
      <p:sp>
        <p:nvSpPr>
          <p:cNvPr id="6" name="TextBox 5"/>
          <p:cNvSpPr txBox="1"/>
          <p:nvPr/>
        </p:nvSpPr>
        <p:spPr>
          <a:xfrm>
            <a:off x="548640" y="2194560"/>
            <a:ext cx="10972800" cy="457200"/>
          </a:xfrm>
          <a:prstGeom prst="rect">
            <a:avLst/>
          </a:prstGeom>
          <a:noFill/>
        </p:spPr>
        <p:txBody>
          <a:bodyPr wrap="square">
            <a:spAutoFit/>
          </a:bodyPr>
          <a:lstStyle/>
          <a:p>
            <a:r>
              <a:rPr sz="2000" b="1"/>
              <a:t>BRIEF C · INVOICE-TO-CAPTURE RECONCILIATION · GROUP 10</a:t>
            </a:r>
          </a:p>
        </p:txBody>
      </p:sp>
      <p:sp>
        <p:nvSpPr>
          <p:cNvPr id="7" name="TextBox 6"/>
          <p:cNvSpPr txBox="1"/>
          <p:nvPr/>
        </p:nvSpPr>
        <p:spPr>
          <a:xfrm>
            <a:off x="548640" y="2651760"/>
            <a:ext cx="10972800" cy="1463040"/>
          </a:xfrm>
          <a:prstGeom prst="rect">
            <a:avLst/>
          </a:prstGeom>
          <a:noFill/>
        </p:spPr>
        <p:txBody>
          <a:bodyPr wrap="square">
            <a:spAutoFit/>
          </a:bodyPr>
          <a:lstStyle/>
          <a:p>
            <a:r>
              <a:rPr sz="3400" b="1"/>
              <a:t>Can Finance separate timing from missing matches?</a:t>
            </a:r>
          </a:p>
        </p:txBody>
      </p:sp>
      <p:sp>
        <p:nvSpPr>
          <p:cNvPr id="8" name="TextBox 7"/>
          <p:cNvSpPr txBox="1"/>
          <p:nvPr/>
        </p:nvSpPr>
        <p:spPr>
          <a:xfrm>
            <a:off x="548640" y="4206240"/>
            <a:ext cx="10058400" cy="731520"/>
          </a:xfrm>
          <a:prstGeom prst="rect">
            <a:avLst/>
          </a:prstGeom>
          <a:noFill/>
        </p:spPr>
        <p:txBody>
          <a:bodyPr wrap="square">
            <a:spAutoFit/>
          </a:bodyPr>
          <a:lstStyle/>
          <a:p>
            <a:r>
              <a:rPr sz="1300"/>
              <a:t>At H1 2026 close, 11,586 of 162,876 invoices (₹26.828 crore billed) carried ₹1.947 crore in positive balances; after later captures, ₹1.648 crore (6.14% of H1 billings) remained open across 9,824 invoices on 15 July, while 1,541 H1 captures worth ₹0.267 crore still lacked a safe invoice match—Finance should prioritize June's open invoices and resolve both exception lists before calling balances lost.</a:t>
            </a:r>
          </a:p>
        </p:txBody>
      </p:sp>
      <p:sp>
        <p:nvSpPr>
          <p:cNvPr id="9" name="TextBox 8"/>
          <p:cNvSpPr txBox="1"/>
          <p:nvPr/>
        </p:nvSpPr>
        <p:spPr>
          <a:xfrm>
            <a:off x="548640" y="5852160"/>
            <a:ext cx="10972800" cy="457200"/>
          </a:xfrm>
          <a:prstGeom prst="rect">
            <a:avLst/>
          </a:prstGeom>
          <a:noFill/>
        </p:spPr>
        <p:txBody>
          <a:bodyPr wrap="square">
            <a:spAutoFit/>
          </a:bodyPr>
          <a:lstStyle/>
          <a:p>
            <a:r>
              <a:rPr sz="1800"/>
              <a:t>Rishabh · Group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1 · THE QUESTION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1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r>
              <a:rPr sz="2500" b="1"/>
              <a:t>Which H1 invoices had no captured match, which captured payments matched no invoice, and how much was timing?</a:t>
            </a:r>
          </a:p>
        </p:txBody>
      </p:sp>
      <p:sp>
        <p:nvSpPr>
          <p:cNvPr id="8" name="TextBox 7"/>
          <p:cNvSpPr txBox="1"/>
          <p:nvPr/>
        </p:nvSpPr>
        <p:spPr>
          <a:xfrm>
            <a:off x="457200" y="1645920"/>
            <a:ext cx="11247120" cy="4206240"/>
          </a:xfrm>
          <a:prstGeom prst="rect">
            <a:avLst/>
          </a:prstGeom>
          <a:noFill/>
        </p:spPr>
        <p:txBody>
          <a:bodyPr wrap="square">
            <a:spAutoFit/>
          </a:bodyPr>
          <a:lstStyle/>
          <a:p>
            <a:r>
              <a:rPr sz="1900"/>
              <a:t>Her words:</a:t>
            </a:r>
          </a:p>
          <a:p>
            <a:r>
              <a:rPr sz="1900"/>
              <a:t>“Which invoices were never paid, which payments match no invoice, and how much of the gap is only timing?”</a:t>
            </a:r>
          </a:p>
          <a:p/>
          <a:p>
            <a:r>
              <a:rPr sz="1900"/>
              <a:t>Our translation:</a:t>
            </a:r>
          </a:p>
          <a:p>
            <a:r>
              <a:rPr sz="1900"/>
              <a:t>Build an H1 invoice-to-capture bridge at each source table’s grain, applying only safe reference matches and showing counts, rupees, and cutoffs.</a:t>
            </a:r>
          </a:p>
          <a:p/>
          <a:p>
            <a:r>
              <a:rPr sz="1900"/>
              <a:t>The decision it drives:</a:t>
            </a:r>
          </a:p>
          <a:p>
            <a:r>
              <a:rPr sz="1900"/>
              <a:t>Prioritize Finance follow-up while keeping late receipts and unresolved exceptions separate from confirmed losses.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2 · THE PICTURE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2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r>
              <a:rPr sz="2400" b="1"/>
              <a:t>Close balances, later receipts, remaining open amount, and unmatched captures</a:t>
            </a:r>
          </a:p>
        </p:txBody>
      </p:sp>
      <p:sp>
        <p:nvSpPr>
          <p:cNvPr id="8" name="Rounded Rectangle 7"/>
          <p:cNvSpPr/>
          <p:nvPr/>
        </p:nvSpPr>
        <p:spPr>
          <a:xfrm>
            <a:off x="457200" y="1645920"/>
            <a:ext cx="11247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4"/>
          <a:stretch>
            <a:fillRect/>
          </a:stretch>
        </p:blipFill>
        <p:spPr>
          <a:xfrm>
            <a:off x="822960" y="1874519"/>
            <a:ext cx="10515600" cy="4160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3 · THE CLAIM</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3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r>
              <a:rPr sz="2400" b="1"/>
              <a:t>A board sentence with period, denominator, cutoff, and a Finance action</a:t>
            </a:r>
          </a:p>
        </p:txBody>
      </p:sp>
      <p:sp>
        <p:nvSpPr>
          <p:cNvPr id="8" name="Rounded Rectangle 7"/>
          <p:cNvSpPr/>
          <p:nvPr/>
        </p:nvSpPr>
        <p:spPr>
          <a:xfrm>
            <a:off x="457200" y="2011680"/>
            <a:ext cx="11247120" cy="2377440"/>
          </a:xfrm>
          <a:prstGeom prst="roundRect">
            <a:avLst>
              <a:gd name="adj" fmla="val 8000"/>
            </a:avLst>
          </a:prstGeom>
          <a:solidFill>
            <a:srgbClr val="EE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86000"/>
            <a:ext cx="10515600" cy="1828800"/>
          </a:xfrm>
          <a:prstGeom prst="rect">
            <a:avLst/>
          </a:prstGeom>
          <a:noFill/>
        </p:spPr>
        <p:txBody>
          <a:bodyPr wrap="square">
            <a:spAutoFit/>
          </a:bodyPr>
          <a:lstStyle/>
          <a:p>
            <a:r>
              <a:rPr sz="1900"/>
              <a:t>At H1 2026 close, 11,586 of 162,876 invoices (₹26.828 crore billed) carried ₹1.947 crore in positive balances; after later captures, ₹1.648 crore (6.14% of H1 billings) remained open across 9,824 invoices on 15 July, while 1,541 H1 captures worth ₹0.267 crore still lacked a safe invoice match—Finance should prioritize June's open invoices and resolve both exception lists before calling balances lost.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4 · THE EVIDENCE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4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r>
              <a:rPr sz="2400" b="1"/>
              <a:t>Three measured numbers; the fourth bar is a separate exception</a:t>
            </a:r>
          </a:p>
        </p:txBody>
      </p:sp>
      <p:sp>
        <p:nvSpPr>
          <p:cNvPr id="8" name="TextBox 7"/>
          <p:cNvSpPr txBox="1"/>
          <p:nvPr/>
        </p:nvSpPr>
        <p:spPr>
          <a:xfrm>
            <a:off x="457200" y="1645920"/>
            <a:ext cx="4754880" cy="4114800"/>
          </a:xfrm>
          <a:prstGeom prst="rect">
            <a:avLst/>
          </a:prstGeom>
          <a:noFill/>
        </p:spPr>
        <p:txBody>
          <a:bodyPr wrap="square">
            <a:spAutoFit/>
          </a:bodyPr>
          <a:lstStyle/>
          <a:p>
            <a:r>
              <a:rPr sz="1700"/>
              <a:t>1 · 4.97% growth</a:t>
            </a:r>
          </a:p>
          <a:p>
            <a:r>
              <a:rPr sz="1700"/>
              <a:t>457,539 / 435,880 active scheduled test lines, H1 2026 vs H1 2025; rounds to 5%.</a:t>
            </a:r>
          </a:p>
          <a:p/>
          <a:p>
            <a:r>
              <a:rPr sz="1700"/>
              <a:t>2 · ₹1.947 crore</a:t>
            </a:r>
          </a:p>
          <a:p>
            <a:r>
              <a:rPr sz="1700"/>
              <a:t>Positive balances across 11,586 invoices at 30 June.</a:t>
            </a:r>
          </a:p>
          <a:p/>
          <a:p>
            <a:r>
              <a:rPr sz="1700"/>
              <a:t>3 · ₹1.648 crore</a:t>
            </a:r>
          </a:p>
          <a:p>
            <a:r>
              <a:rPr sz="1700"/>
              <a:t>Still open across 9,824 invoices by 15 July: 6.14% of ₹26.828 crore H1 billing.</a:t>
            </a:r>
          </a:p>
        </p:txBody>
      </p:sp>
      <p:sp>
        <p:nvSpPr>
          <p:cNvPr id="9" name="Rounded Rectangle 8"/>
          <p:cNvSpPr/>
          <p:nvPr/>
        </p:nvSpPr>
        <p:spPr>
          <a:xfrm>
            <a:off x="5486400" y="1645920"/>
            <a:ext cx="62179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5486400" y="1965960"/>
            <a:ext cx="6035040" cy="37947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5 · THE CAVEAT AND THE ALTERNATIVE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5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r>
              <a:rPr sz="2400" b="1"/>
              <a:t>The balance is provisional; do not net unrelated invoices or claim a loss</a:t>
            </a:r>
          </a:p>
        </p:txBody>
      </p:sp>
      <p:sp>
        <p:nvSpPr>
          <p:cNvPr id="8" name="TextBox 7"/>
          <p:cNvSpPr txBox="1"/>
          <p:nvPr/>
        </p:nvSpPr>
        <p:spPr>
          <a:xfrm>
            <a:off x="457200" y="1645920"/>
            <a:ext cx="11247120" cy="4206240"/>
          </a:xfrm>
          <a:prstGeom prst="rect">
            <a:avLst/>
          </a:prstGeom>
          <a:noFill/>
        </p:spPr>
        <p:txBody>
          <a:bodyPr wrap="square">
            <a:spAutoFit/>
          </a:bodyPr>
          <a:lstStyle/>
          <a:p>
            <a:r>
              <a:rPr sz="1800"/>
              <a:t>What could change the claim:</a:t>
            </a:r>
          </a:p>
          <a:p>
            <a:r>
              <a:rPr sz="1800"/>
              <a:t>Finance has not confirmed source completeness, contractual due dates, refunds/reversals, or independent bank and clinic-cash coverage. The ₹1.648 crore is open at the observation cutoff, not a verified overdue or loss amount.</a:t>
            </a:r>
          </a:p>
          <a:p/>
          <a:p>
            <a:r>
              <a:rPr sz="1800"/>
              <a:t>Alternative rejected:</a:t>
            </a:r>
          </a:p>
          <a:p>
            <a:r>
              <a:rPr sz="1800"/>
              <a:t>Netting ₹0.117 crore of overcaptures against positive balances would reduce the headline from ₹1.947 crore to a net diagnostic of ₹1.830 crore, but could offset unrelated invoices. We report the positive balances and overcaptures separately.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6 · THE ACTION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6 / 6</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r>
              <a:rPr sz="2400" b="1"/>
              <a:t>Start with the largest measured cohort; verify both exception queues</a:t>
            </a:r>
          </a:p>
        </p:txBody>
      </p:sp>
      <p:sp>
        <p:nvSpPr>
          <p:cNvPr id="8" name="TextBox 7"/>
          <p:cNvSpPr txBox="1"/>
          <p:nvPr/>
        </p:nvSpPr>
        <p:spPr>
          <a:xfrm>
            <a:off x="457200" y="1645920"/>
            <a:ext cx="11247120" cy="4206240"/>
          </a:xfrm>
          <a:prstGeom prst="rect">
            <a:avLst/>
          </a:prstGeom>
          <a:noFill/>
        </p:spPr>
        <p:txBody>
          <a:bodyPr wrap="square">
            <a:spAutoFit/>
          </a:bodyPr>
          <a:lstStyle/>
          <a:p>
            <a:r>
              <a:rPr sz="1900"/>
              <a:t>Do: Review June invoices first (45.8% of the 15 July open balance), then resolve the late-capture and unmatched-capture lists.</a:t>
            </a:r>
          </a:p>
          <a:p/>
          <a:p>
            <a:r>
              <a:rPr sz="1900"/>
              <a:t>It costs: Finance review time; hours are not estimated from the supplied files.</a:t>
            </a:r>
          </a:p>
          <a:p/>
          <a:p>
            <a:r>
              <a:rPr sz="1900"/>
              <a:t>If we are wrong, it costs: Misstating collections or treating a timing/reference issue as a permanent loss.</a:t>
            </a:r>
          </a:p>
          <a:p/>
          <a:p>
            <a:r>
              <a:rPr sz="1900"/>
              <a:t>With two more days: Confirm due dates, source coverage, reversals, and bank/cash evidence, then rerun the bridge.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0"/>
            <a:ext cx="10972800" cy="1097280"/>
          </a:xfrm>
          <a:prstGeom prst="rect">
            <a:avLst/>
          </a:prstGeom>
          <a:noFill/>
        </p:spPr>
        <p:txBody>
          <a:bodyPr wrap="square">
            <a:spAutoFit/>
          </a:bodyPr>
          <a:lstStyle/>
          <a:p>
            <a:pPr algn="l"/>
            <a:r>
              <a:rPr sz="4000" b="1">
                <a:solidFill>
                  <a:srgbClr val="FFFFFF"/>
                </a:solidFill>
                <a:latin typeface="Georgia"/>
              </a:rPr>
              <a:t>Questions</a:t>
            </a:r>
          </a:p>
        </p:txBody>
      </p:sp>
      <p:sp>
        <p:nvSpPr>
          <p:cNvPr id="4" name="TextBox 3"/>
          <p:cNvSpPr txBox="1"/>
          <p:nvPr/>
        </p:nvSpPr>
        <p:spPr>
          <a:xfrm>
            <a:off x="548640" y="3657600"/>
            <a:ext cx="10058400" cy="914400"/>
          </a:xfrm>
          <a:prstGeom prst="rect">
            <a:avLst/>
          </a:prstGeom>
          <a:noFill/>
        </p:spPr>
        <p:txBody>
          <a:bodyPr wrap="square">
            <a:spAutoFit/>
          </a:bodyPr>
          <a:lstStyle/>
          <a:p>
            <a:r>
              <a:rPr sz="1900"/>
              <a:t>Approach, cleaning and caveats: github.com/RishabhInTech/c2-build1-brief-C-group-10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A</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7 / 8</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A · The decisions that moved the headline</a:t>
            </a:r>
          </a:p>
        </p:txBody>
      </p:sp>
      <p:sp>
        <p:nvSpPr>
          <p:cNvPr id="8" name="TextBox 7"/>
          <p:cNvSpPr txBox="1"/>
          <p:nvPr/>
        </p:nvSpPr>
        <p:spPr>
          <a:xfrm>
            <a:off x="457200" y="1645920"/>
            <a:ext cx="11247120" cy="4206240"/>
          </a:xfrm>
          <a:prstGeom prst="rect">
            <a:avLst/>
          </a:prstGeom>
          <a:noFill/>
        </p:spPr>
        <p:txBody>
          <a:bodyPr wrap="square">
            <a:spAutoFit/>
          </a:bodyPr>
          <a:lstStyle/>
          <a:p>
            <a:r>
              <a:rPr sz="1900"/>
              <a:t>Rule 1 · Volume: count active nonblank booking-test lines by scheduled date; 4.97% growth reproduces the handbook’s rounded 5%.</a:t>
            </a:r>
          </a:p>
          <a:p/>
          <a:p>
            <a:r>
              <a:rPr sz="1900"/>
              <a:t>Rule 2 · Matching: exact invoice ID, then hyphen removal only when the canonical invoice key is unique; no amount/date fuzzy matches.</a:t>
            </a:r>
          </a:p>
          <a:p/>
          <a:p>
            <a:r>
              <a:rPr sz="1900"/>
              <a:t>Rule 3 · Balance: calculate positive balances invoice by invoice; keep ₹0.117 crore overcaptures separate.</a:t>
            </a:r>
          </a:p>
          <a:p/>
          <a:p>
            <a:r>
              <a:rPr sz="1900"/>
              <a:t>The full cleaning and timing choices are in docs/decisions-log.md.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B</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8 / 8</a:t>
            </a:r>
          </a:p>
        </p:txBody>
      </p:sp>
      <p:pic>
        <p:nvPicPr>
          <p:cNvPr id="5" name="Picture 4" descr="iitgn_seal.png"/>
          <p:cNvPicPr>
            <a:picLocks noChangeAspect="1"/>
          </p:cNvPicPr>
          <p:nvPr/>
        </p:nvPicPr>
        <p:blipFill>
          <a:blip r:embed="rId2"/>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B · The cold run</a:t>
            </a:r>
          </a:p>
        </p:txBody>
      </p:sp>
      <p:sp>
        <p:nvSpPr>
          <p:cNvPr id="8" name="TextBox 7"/>
          <p:cNvSpPr txBox="1"/>
          <p:nvPr/>
        </p:nvSpPr>
        <p:spPr>
          <a:xfrm>
            <a:off x="457200" y="1645920"/>
            <a:ext cx="11247120" cy="4206240"/>
          </a:xfrm>
          <a:prstGeom prst="rect">
            <a:avLst/>
          </a:prstGeom>
          <a:noFill/>
        </p:spPr>
        <p:txBody>
          <a:bodyPr wrap="square">
            <a:spAutoFit/>
          </a:bodyPr>
          <a:lstStyle/>
          <a:p>
            <a:r>
              <a:rPr sz="1900"/>
              <a:t>Full-pack cold run in a fresh Codespace: not yet recorded.</a:t>
            </a:r>
          </a:p>
          <a:p/>
          <a:p>
            <a:r>
              <a:rPr sz="1900"/>
              <a:t>Focused tests: 10 passed. Notebook JSON and code-cell validation: passed.</a:t>
            </a:r>
          </a:p>
          <a:p/>
          <a:p>
            <a:r>
              <a:rPr sz="1900"/>
              <a:t>Headline: ₹1.947 crore positive balance at 30 June; ₹1.648 crore still open by 15 July.</a:t>
            </a:r>
          </a:p>
          <a:p/>
          <a:p>
            <a:r>
              <a:rPr sz="1900"/>
              <a:t>Branch: Rishabh · validate the full data-pack run before final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
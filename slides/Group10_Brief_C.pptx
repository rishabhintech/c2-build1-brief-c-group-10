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9346" autoAdjust="0"/>
  </p:normalViewPr>
  <p:slideViewPr>
    <p:cSldViewPr snapToGrid="0" snapToObjects="1">
      <p:cViewPr varScale="1">
        <p:scale>
          <a:sx n="65" d="100"/>
          <a:sy n="65" d="100"/>
        </p:scale>
        <p:origin x="1330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43574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Source: Rishabh branch, docs/brief-c-analysis.md. H1 2026 invoices and captures, observed through 15 July. This is provisional and does not prove permanent loss.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Quote from Rishabh branch project statement. State invoice and attempt grains are different. Failed attempts do not represent collected cash.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H1 close = 30 June 2026 23:59 IST; observation through 15 July. At close 11,571 invoices had no captured match (face value ₹1.945 </a:t>
            </a:r>
            <a:r>
              <a:rPr dirty="0" err="1"/>
              <a:t>cr</a:t>
            </a:r>
            <a:r>
              <a:rPr dirty="0"/>
              <a:t>), another 15 were partly paid (₹0.002 </a:t>
            </a:r>
            <a:r>
              <a:rPr dirty="0" err="1"/>
              <a:t>cr</a:t>
            </a:r>
            <a:r>
              <a:rPr dirty="0"/>
              <a:t> remaining). Positive balances ₹1.947 cr. This diagram is directional, not an arithmetic waterfall: face value of invoices with later captures differs from exact decrease in positive balances.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Figures sourced from docs/brief-c-analysis.md on Rishabh branch. Do not label unpaid as lost or unmatched captures as fraud. Different H1 invoice and H1 payment cohorts are deliberately not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 Rishabh branch docs/brief-c-analysis.md. £ is not relevant; all numbers are INR. The H1 captured unmatched attempts come from a payment-attempt cohort; H1 invoice balances come from invoice cohort. They are distinct lenses and are not additive.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Financial numbers and match methods from Rishabh branch docs/brief-c-analysis.md and docs/decisions-log.md. The ₹0.608cr is diagnostic due to differing timing windows and lack of independent bank/cash evidence. Source stated synthetic fixture works; full-pack cold run not confirmed.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June is a prioritization signal not a causal diagnosis. Explicitly distinguish proposed next steps from actions documented as completed. Reproducible full-pack cold run is not confirmed in the repository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the corresponding branch and log during questioning. The two branches show different maturity levels; never confuse preliminary full-window totals with final H1 cohort calculations.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Rishabh branch decisions log C9-C13; the feature/brief-c-vysag branch separately documented 1,925 invoice references with multiple payments and a notebook 02 kernel issue.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 not invent a cold run, runtime, or commit. Rishabh challenges-log says full-pack cold run remains needed. Vysag feature branch describes troubleshooting and provisional full-window financial investigation.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A0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itgn_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914400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45920" y="502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868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9A7FF"/>
                </a:solidFill>
                <a:latin typeface="Arial"/>
              </a:rPr>
              <a:t>PG Diploma in AI-ML and Agentic AI Engineering · Cohort 2 · Build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0972800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085CC"/>
                </a:solidFill>
                <a:latin typeface="Aptos"/>
              </a:rPr>
              <a:t>BRIEF C  ·  MONEY RECONCILIATION  ·  GROUP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10972800" cy="615553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dirty="0">
                <a:solidFill>
                  <a:schemeClr val="bg1"/>
                </a:solidFill>
                <a:latin typeface="Aptos"/>
              </a:rPr>
              <a:t>Which invoices were unpaid, unmatched or simply late?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06240"/>
            <a:ext cx="10058400" cy="40011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 dirty="0">
                <a:solidFill>
                  <a:schemeClr val="bg1"/>
                </a:solidFill>
                <a:latin typeface="Aptos"/>
              </a:rPr>
              <a:t>Volume growth: 5% actual; 18% plan-estimated. At 15 July, ₹1.648 crore remained open across 9,824 H1 invoices.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852160"/>
            <a:ext cx="10972800" cy="353943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dirty="0">
                <a:solidFill>
                  <a:schemeClr val="bg1"/>
                </a:solidFill>
                <a:latin typeface="Aptos"/>
              </a:rPr>
              <a:t>Kalpa Health  ·  Cohort 2  ·  Build 1  ·  25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>
              <a:gd name="adj" fmla="val 8000"/>
            </a:avLst>
          </a:prstGeom>
          <a:solidFill>
            <a:srgbClr val="4E38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E38AB"/>
                </a:solidFill>
                <a:latin typeface="Arial"/>
              </a:rPr>
              <a:t>1 · THE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286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690"/>
                </a:solidFill>
                <a:latin typeface="Arial"/>
              </a:rPr>
              <a:t>1 / 6</a:t>
            </a:r>
          </a:p>
        </p:txBody>
      </p:sp>
      <p:pic>
        <p:nvPicPr>
          <p:cNvPr id="5" name="Picture 4" descr="iitgn_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63640"/>
            <a:ext cx="411480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B6690"/>
                </a:solidFill>
                <a:latin typeface="Arial"/>
              </a:rPr>
              <a:t>Indian Institute of Technology Gandhinagar · PG Diploma in AI-ML and Agentic AI Engineering · Cohort 2 · Build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47120" cy="9144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1263A"/>
                </a:solidFill>
                <a:latin typeface="Aptos"/>
              </a:rPr>
              <a:t>The COO wants a reconciled answer—not two unrelated totals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11247120" cy="42062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1200"/>
              </a:spcAft>
            </a:pPr>
            <a:r>
              <a:rPr sz="2100" b="0">
                <a:solidFill>
                  <a:srgbClr val="11263A"/>
                </a:solidFill>
                <a:latin typeface="Aptos"/>
              </a:rPr>
              <a:t>“Which invoices were never paid, which payments match no invoice, and how much of the gap is only timing?”</a:t>
            </a:r>
          </a:p>
          <a:p>
            <a:pPr>
              <a:spcAft>
                <a:spcPts val="1200"/>
              </a:spcAft>
            </a:pPr>
            <a:endParaRPr sz="2100" b="0">
              <a:solidFill>
                <a:srgbClr val="11263A"/>
              </a:solidFill>
              <a:latin typeface="Aptos"/>
            </a:endParaRPr>
          </a:p>
          <a:p>
            <a:pPr>
              <a:spcAft>
                <a:spcPts val="1200"/>
              </a:spcAft>
            </a:pPr>
            <a:r>
              <a:rPr sz="2100" b="0">
                <a:solidFill>
                  <a:srgbClr val="11263A"/>
                </a:solidFill>
                <a:latin typeface="Aptos"/>
              </a:rPr>
              <a:t>Our translation: Match H1 invoices to eligible captured payments, trace exceptions and separate post-close receipts.</a:t>
            </a:r>
          </a:p>
          <a:p>
            <a:pPr>
              <a:spcAft>
                <a:spcPts val="1200"/>
              </a:spcAft>
            </a:pPr>
            <a:endParaRPr sz="2100" b="0">
              <a:solidFill>
                <a:srgbClr val="11263A"/>
              </a:solidFill>
              <a:latin typeface="Aptos"/>
            </a:endParaRPr>
          </a:p>
          <a:p>
            <a:pPr>
              <a:spcAft>
                <a:spcPts val="1200"/>
              </a:spcAft>
            </a:pPr>
            <a:r>
              <a:rPr sz="2100" b="0">
                <a:solidFill>
                  <a:srgbClr val="11263A"/>
                </a:solidFill>
                <a:latin typeface="Aptos"/>
              </a:rPr>
              <a:t>Decision: Which invoices and unmatched captures should Finance investigate first?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>
              <a:gd name="adj" fmla="val 8000"/>
            </a:avLst>
          </a:prstGeom>
          <a:solidFill>
            <a:srgbClr val="4E38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E38AB"/>
                </a:solidFill>
                <a:latin typeface="Arial"/>
              </a:rPr>
              <a:t>2 · THE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286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690"/>
                </a:solidFill>
                <a:latin typeface="Arial"/>
              </a:rPr>
              <a:t>2 / 6</a:t>
            </a:r>
          </a:p>
        </p:txBody>
      </p:sp>
      <p:pic>
        <p:nvPicPr>
          <p:cNvPr id="5" name="Picture 4" descr="iitgn_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63640"/>
            <a:ext cx="411480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B6690"/>
                </a:solidFill>
                <a:latin typeface="Arial"/>
              </a:rPr>
              <a:t>Indian Institute of Technology Gandhinagar · PG Diploma in AI-ML and Agentic AI Engineering · Cohort 2 · Build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47120" cy="9144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1263A"/>
                </a:solidFill>
                <a:latin typeface="Aptos"/>
              </a:rPr>
              <a:t>A controlled invoice-to-payment bridge, with timing separated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45920"/>
            <a:ext cx="112471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D2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31520" y="1847088"/>
            <a:ext cx="3246120" cy="1051560"/>
          </a:xfrm>
          <a:prstGeom prst="roundRect">
            <a:avLst/>
          </a:prstGeom>
          <a:solidFill>
            <a:srgbClr val="EB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956816"/>
            <a:ext cx="2971800" cy="25603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556572"/>
                </a:solidFill>
                <a:latin typeface="Aptos"/>
              </a:rPr>
              <a:t>H1 INVOICES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58568"/>
            <a:ext cx="2971800" cy="48463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2100" b="1">
                <a:solidFill>
                  <a:srgbClr val="1A3E5C"/>
                </a:solidFill>
                <a:latin typeface="Aptos"/>
              </a:rPr>
              <a:t>162,876  |  ₹26.828 cr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2272" y="1847088"/>
            <a:ext cx="3246120" cy="1051560"/>
          </a:xfrm>
          <a:prstGeom prst="roundRect">
            <a:avLst/>
          </a:prstGeom>
          <a:solidFill>
            <a:srgbClr val="EB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9432" y="1956816"/>
            <a:ext cx="2971800" cy="25603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556572"/>
                </a:solidFill>
                <a:latin typeface="Aptos"/>
              </a:rPr>
              <a:t>CAPTURES BY 30 JUN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2258568"/>
            <a:ext cx="2971800" cy="48463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2100" b="1">
                <a:solidFill>
                  <a:srgbClr val="1A3E5C"/>
                </a:solidFill>
                <a:latin typeface="Aptos"/>
              </a:rPr>
              <a:t>₹24.998 cr matched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1847088"/>
            <a:ext cx="3246120" cy="1051560"/>
          </a:xfrm>
          <a:prstGeom prst="roundRect">
            <a:avLst/>
          </a:prstGeom>
          <a:solidFill>
            <a:srgbClr val="EB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1956816"/>
            <a:ext cx="2971800" cy="25603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556572"/>
                </a:solidFill>
                <a:latin typeface="Aptos"/>
              </a:rPr>
              <a:t>POSITIVE BALANCE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258568"/>
            <a:ext cx="2971800" cy="48463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2100" b="1">
                <a:solidFill>
                  <a:srgbClr val="1A3E5C"/>
                </a:solidFill>
                <a:latin typeface="Aptos"/>
              </a:rPr>
              <a:t>₹1.947 cr  |  11,586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77440" y="3867912"/>
            <a:ext cx="3246120" cy="1051560"/>
          </a:xfrm>
          <a:prstGeom prst="roundRect">
            <a:avLst/>
          </a:prstGeom>
          <a:solidFill>
            <a:srgbClr val="EB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14600" y="3977640"/>
            <a:ext cx="2971800" cy="25603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556572"/>
                </a:solidFill>
                <a:latin typeface="Aptos"/>
              </a:rPr>
              <a:t>LATER CAPTURES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4279392"/>
            <a:ext cx="2971800" cy="48463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2100" b="1">
                <a:solidFill>
                  <a:srgbClr val="1A3E5C"/>
                </a:solidFill>
                <a:latin typeface="Aptos"/>
              </a:rPr>
              <a:t>₹0.298 cr face value*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7960" y="3867912"/>
            <a:ext cx="3246120" cy="1051560"/>
          </a:xfrm>
          <a:prstGeom prst="roundRect">
            <a:avLst/>
          </a:prstGeom>
          <a:solidFill>
            <a:srgbClr val="EB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75120" y="3977640"/>
            <a:ext cx="2971800" cy="25603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556572"/>
                </a:solidFill>
                <a:latin typeface="Aptos"/>
              </a:rPr>
              <a:t>OPEN BY 15 JUL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279392"/>
            <a:ext cx="2971800" cy="48463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2100" b="1">
                <a:solidFill>
                  <a:srgbClr val="1A3E5C"/>
                </a:solidFill>
                <a:latin typeface="Aptos"/>
              </a:rPr>
              <a:t>₹1.648 cr  |  9,824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8224" y="2075688"/>
            <a:ext cx="365760" cy="5029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2900" b="1">
                <a:solidFill>
                  <a:srgbClr val="0085CC"/>
                </a:solidFill>
                <a:latin typeface="Aptos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90688" y="2075688"/>
            <a:ext cx="365760" cy="5029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2900" b="1">
                <a:solidFill>
                  <a:srgbClr val="0085CC"/>
                </a:solidFill>
                <a:latin typeface="Aptos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50408" y="3154680"/>
            <a:ext cx="1417320" cy="4114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0085CC"/>
                </a:solidFill>
                <a:latin typeface="Aptos"/>
              </a:rPr>
              <a:t>↓ timing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349240"/>
            <a:ext cx="10789920" cy="38404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56572"/>
                </a:solidFill>
                <a:latin typeface="Aptos"/>
              </a:rPr>
              <a:t>* Later-capture figure is face value of the formerly no-capture invoices; it is not a direct arithmetic bridge subtraction.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>
              <a:gd name="adj" fmla="val 8000"/>
            </a:avLst>
          </a:prstGeom>
          <a:solidFill>
            <a:srgbClr val="4E38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E38AB"/>
                </a:solidFill>
                <a:latin typeface="Arial"/>
              </a:rPr>
              <a:t>3 · THE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286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690"/>
                </a:solidFill>
                <a:latin typeface="Arial"/>
              </a:rPr>
              <a:t>3 / 6</a:t>
            </a:r>
          </a:p>
        </p:txBody>
      </p:sp>
      <p:pic>
        <p:nvPicPr>
          <p:cNvPr id="5" name="Picture 4" descr="iitgn_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63640"/>
            <a:ext cx="411480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B6690"/>
                </a:solidFill>
                <a:latin typeface="Arial"/>
              </a:rPr>
              <a:t>Indian Institute of Technology Gandhinagar · PG Diploma in AI-ML and Agentic AI Engineering · Cohort 2 · Build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47120" cy="9144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1263A"/>
                </a:solidFill>
                <a:latin typeface="Aptos"/>
              </a:rPr>
              <a:t>One board-ready sentence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011680"/>
            <a:ext cx="11247120" cy="2377440"/>
          </a:xfrm>
          <a:prstGeom prst="roundRect">
            <a:avLst>
              <a:gd name="adj" fmla="val 8000"/>
            </a:avLst>
          </a:prstGeom>
          <a:solidFill>
            <a:srgbClr val="EE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10515600" cy="18288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1263A"/>
                </a:solidFill>
                <a:latin typeface="Aptos"/>
              </a:rPr>
              <a:t>Of ₹26.828 crore billed in H1 2026, ₹1.648 crore (6.14%) remained open across 9,824 invoices by 15 July; 1,541 H1 captured attempts worth ₹0.267 crore also lacked a safe invoice match.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>
              <a:gd name="adj" fmla="val 8000"/>
            </a:avLst>
          </a:prstGeom>
          <a:solidFill>
            <a:srgbClr val="4E38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E38AB"/>
                </a:solidFill>
                <a:latin typeface="Arial"/>
              </a:rPr>
              <a:t>4 · THE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286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690"/>
                </a:solidFill>
                <a:latin typeface="Arial"/>
              </a:rPr>
              <a:t>4 / 6</a:t>
            </a:r>
          </a:p>
        </p:txBody>
      </p:sp>
      <p:pic>
        <p:nvPicPr>
          <p:cNvPr id="5" name="Picture 4" descr="iitgn_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63640"/>
            <a:ext cx="411480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B6690"/>
                </a:solidFill>
                <a:latin typeface="Arial"/>
              </a:rPr>
              <a:t>Indian Institute of Technology Gandhinagar · PG Diploma in AI-ML and Agentic AI Engineering · Cohort 2 · Build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47120" cy="9144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1263A"/>
                </a:solidFill>
                <a:latin typeface="Aptos"/>
              </a:rPr>
              <a:t>Three checks identify the work Finance should prioritize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4754880" cy="433965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+mj-lt"/>
              </a:rPr>
              <a:t>₹1.947 </a:t>
            </a:r>
            <a:r>
              <a:rPr sz="1600" b="0" dirty="0" err="1">
                <a:solidFill>
                  <a:srgbClr val="11263A"/>
                </a:solidFill>
                <a:latin typeface="+mj-lt"/>
              </a:rPr>
              <a:t>cr</a:t>
            </a:r>
            <a:endParaRPr sz="1600" b="0" dirty="0">
              <a:solidFill>
                <a:srgbClr val="11263A"/>
              </a:solidFill>
              <a:latin typeface="+mj-lt"/>
            </a:endParaRP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+mj-lt"/>
              </a:rPr>
              <a:t>Positive balances at 30 Jun</a:t>
            </a: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+mj-lt"/>
              </a:rPr>
              <a:t>11,586 of 162,876 invoices</a:t>
            </a:r>
          </a:p>
          <a:p>
            <a:pPr>
              <a:spcAft>
                <a:spcPts val="1200"/>
              </a:spcAft>
            </a:pPr>
            <a:endParaRPr sz="1600" b="0" dirty="0">
              <a:solidFill>
                <a:srgbClr val="11263A"/>
              </a:solidFill>
              <a:latin typeface="+mj-lt"/>
            </a:endParaRP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+mj-lt"/>
              </a:rPr>
              <a:t>₹1.648 </a:t>
            </a:r>
            <a:r>
              <a:rPr sz="1600" b="0" dirty="0" err="1">
                <a:solidFill>
                  <a:srgbClr val="11263A"/>
                </a:solidFill>
                <a:latin typeface="+mj-lt"/>
              </a:rPr>
              <a:t>cr</a:t>
            </a:r>
            <a:endParaRPr sz="1600" b="0" dirty="0">
              <a:solidFill>
                <a:srgbClr val="11263A"/>
              </a:solidFill>
              <a:latin typeface="+mj-lt"/>
            </a:endParaRP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+mj-lt"/>
              </a:rPr>
              <a:t>Still open by 15 Jul</a:t>
            </a: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+mj-lt"/>
              </a:rPr>
              <a:t>9,824 H1 invoices</a:t>
            </a:r>
          </a:p>
          <a:p>
            <a:pPr>
              <a:spcAft>
                <a:spcPts val="1200"/>
              </a:spcAft>
            </a:pPr>
            <a:endParaRPr sz="1600" b="0" dirty="0">
              <a:solidFill>
                <a:srgbClr val="11263A"/>
              </a:solidFill>
              <a:latin typeface="+mj-lt"/>
            </a:endParaRP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+mj-lt"/>
              </a:rPr>
              <a:t>₹0.267 </a:t>
            </a:r>
            <a:r>
              <a:rPr sz="1600" b="0" dirty="0" err="1">
                <a:solidFill>
                  <a:srgbClr val="11263A"/>
                </a:solidFill>
                <a:latin typeface="+mj-lt"/>
              </a:rPr>
              <a:t>cr</a:t>
            </a:r>
            <a:endParaRPr sz="1600" b="0" dirty="0">
              <a:solidFill>
                <a:srgbClr val="11263A"/>
              </a:solidFill>
              <a:latin typeface="+mj-lt"/>
            </a:endParaRP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+mj-lt"/>
              </a:rPr>
              <a:t>H1 captured but unmatched</a:t>
            </a:r>
            <a:endParaRPr lang="en-US" sz="1600" b="0" dirty="0">
              <a:solidFill>
                <a:srgbClr val="11263A"/>
              </a:solidFill>
              <a:latin typeface="+mj-lt"/>
            </a:endParaRPr>
          </a:p>
          <a:p>
            <a:pPr>
              <a:spcAft>
                <a:spcPts val="1200"/>
              </a:spcAft>
            </a:pPr>
            <a:r>
              <a:rPr lang="en-US" sz="1600" b="0" dirty="0">
                <a:solidFill>
                  <a:srgbClr val="11263A"/>
                </a:solidFill>
                <a:latin typeface="+mj-lt"/>
              </a:rPr>
              <a:t>1,541 of 156,458 captured attempts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0" y="1645920"/>
            <a:ext cx="62179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D2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724144" y="1929384"/>
            <a:ext cx="5669280" cy="353872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89320" y="2139696"/>
            <a:ext cx="5029200" cy="32918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556572"/>
                </a:solidFill>
                <a:latin typeface="Aptos"/>
              </a:rPr>
              <a:t>FINANCE EXCEPTION AMOUNTS  ·  ₹ CRORE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2743200"/>
            <a:ext cx="2560320" cy="29260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1500" b="0">
                <a:solidFill>
                  <a:srgbClr val="11263A"/>
                </a:solidFill>
                <a:latin typeface="Aptos"/>
              </a:rPr>
              <a:t>At H1 close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39912" y="2761488"/>
            <a:ext cx="1780336" cy="301752"/>
          </a:xfrm>
          <a:prstGeom prst="roundRect">
            <a:avLst/>
          </a:prstGeom>
          <a:solidFill>
            <a:srgbClr val="1A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415016" y="2724912"/>
            <a:ext cx="731520" cy="34747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11263A"/>
                </a:solidFill>
                <a:latin typeface="Aptos"/>
              </a:rPr>
              <a:t>1.947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3593592"/>
            <a:ext cx="2560320" cy="29260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1500" b="0">
                <a:solidFill>
                  <a:srgbClr val="11263A"/>
                </a:solidFill>
                <a:latin typeface="Aptos"/>
              </a:rPr>
              <a:t>Open at 15 Jul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39912" y="3611880"/>
            <a:ext cx="1506931" cy="301752"/>
          </a:xfrm>
          <a:prstGeom prst="roundRect">
            <a:avLst/>
          </a:prstGeom>
          <a:solidFill>
            <a:srgbClr val="0085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415016" y="3575304"/>
            <a:ext cx="731520" cy="34747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11263A"/>
                </a:solidFill>
                <a:latin typeface="Aptos"/>
              </a:rPr>
              <a:t>1.648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4443984"/>
            <a:ext cx="2560320" cy="29260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1500" b="0">
                <a:solidFill>
                  <a:srgbClr val="11263A"/>
                </a:solidFill>
                <a:latin typeface="Aptos"/>
              </a:rPr>
              <a:t>Unmatched H1 captures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9912" y="4462272"/>
            <a:ext cx="244144" cy="301752"/>
          </a:xfrm>
          <a:prstGeom prst="roundRect">
            <a:avLst/>
          </a:prstGeom>
          <a:solidFill>
            <a:srgbClr val="CC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415016" y="4425696"/>
            <a:ext cx="731520" cy="34747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11263A"/>
                </a:solidFill>
                <a:latin typeface="Aptos"/>
              </a:rPr>
              <a:t>0.267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0176" y="5010912"/>
            <a:ext cx="5257800" cy="39319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556572"/>
                </a:solidFill>
                <a:latin typeface="Aptos"/>
              </a:rPr>
              <a:t>Different populations; bars are amounts, not components to add.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>
              <a:gd name="adj" fmla="val 8000"/>
            </a:avLst>
          </a:prstGeom>
          <a:solidFill>
            <a:srgbClr val="4E38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E38AB"/>
                </a:solidFill>
                <a:latin typeface="Arial"/>
              </a:rPr>
              <a:t>5 · THE CAVEAT AND THE ALTERNATIVE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286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690"/>
                </a:solidFill>
                <a:latin typeface="Arial"/>
              </a:rPr>
              <a:t>5 / 6</a:t>
            </a:r>
          </a:p>
        </p:txBody>
      </p:sp>
      <p:pic>
        <p:nvPicPr>
          <p:cNvPr id="5" name="Picture 4" descr="iitgn_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63640"/>
            <a:ext cx="411480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B6690"/>
                </a:solidFill>
                <a:latin typeface="Arial"/>
              </a:rPr>
              <a:t>Indian Institute of Technology Gandhinagar · PG Diploma in AI-ML and Agentic AI Engineering · Cohort 2 · Build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47120" cy="9144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1263A"/>
                </a:solidFill>
                <a:latin typeface="Aptos"/>
              </a:rPr>
              <a:t>What could change the answer—and why we refused fuzzy matches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11247120" cy="42062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11263A"/>
                </a:solidFill>
                <a:latin typeface="Aptos"/>
              </a:rPr>
              <a:t>Primary caveat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11263A"/>
                </a:solidFill>
                <a:latin typeface="Aptos"/>
              </a:rPr>
              <a:t>Finance must confirm complete source coverage, due dates, refunds/reversals, clinic cash and settlement-to-bank receipts. An open balance is not necessarily a loss.</a:t>
            </a:r>
          </a:p>
          <a:p>
            <a:pPr>
              <a:spcAft>
                <a:spcPts val="1200"/>
              </a:spcAft>
            </a:pPr>
            <a:endParaRPr sz="1900" b="0">
              <a:solidFill>
                <a:srgbClr val="11263A"/>
              </a:solidFill>
              <a:latin typeface="Aptos"/>
            </a:endParaRP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11263A"/>
                </a:solidFill>
                <a:latin typeface="Aptos"/>
              </a:rPr>
              <a:t>Rejected approach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11263A"/>
                </a:solidFill>
                <a:latin typeface="Aptos"/>
              </a:rPr>
              <a:t>Match payments to invoices on similar amount or date. It risks pairing unrelated visits. We used exact invoice IDs, then separator-normalized IDs only when unique; unresolved records stayed unmatched.</a:t>
            </a:r>
          </a:p>
          <a:p>
            <a:pPr>
              <a:spcAft>
                <a:spcPts val="1200"/>
              </a:spcAft>
            </a:pPr>
            <a:endParaRPr sz="1900" b="0">
              <a:solidFill>
                <a:srgbClr val="11263A"/>
              </a:solidFill>
              <a:latin typeface="Aptos"/>
            </a:endParaRP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11263A"/>
                </a:solidFill>
                <a:latin typeface="Aptos"/>
              </a:rPr>
              <a:t>Independent check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11263A"/>
                </a:solidFill>
                <a:latin typeface="Aptos"/>
              </a:rPr>
              <a:t>H1 settlement-linked captures exceeded settlement gross by ₹0.608 crore—unresolved, not a proven bank shortage.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>
              <a:gd name="adj" fmla="val 8000"/>
            </a:avLst>
          </a:prstGeom>
          <a:solidFill>
            <a:srgbClr val="4E38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E38AB"/>
                </a:solidFill>
                <a:latin typeface="Arial"/>
              </a:rPr>
              <a:t>6 · THE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286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690"/>
                </a:solidFill>
                <a:latin typeface="Arial"/>
              </a:rPr>
              <a:t>6 / 6</a:t>
            </a:r>
          </a:p>
        </p:txBody>
      </p:sp>
      <p:pic>
        <p:nvPicPr>
          <p:cNvPr id="5" name="Picture 4" descr="iitgn_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63640"/>
            <a:ext cx="411480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B6690"/>
                </a:solidFill>
                <a:latin typeface="Arial"/>
              </a:rPr>
              <a:t>Indian Institute of Technology Gandhinagar · PG Diploma in AI-ML and Agentic AI Engineering · Cohort 2 · Build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47120" cy="9144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1263A"/>
                </a:solidFill>
                <a:latin typeface="Aptos"/>
              </a:rPr>
              <a:t>A Finance exception queue—not an unsupported loss estimate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11247120" cy="42062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11263A"/>
                </a:solidFill>
                <a:latin typeface="Aptos"/>
              </a:rPr>
              <a:t>DO FIRST  ·  June at H1 close: ₹1.053 crore across 6,256 invoices (54.1% of close balance); ₹0.755 crore remained at 15 July.</a:t>
            </a:r>
          </a:p>
          <a:p>
            <a:pPr>
              <a:spcAft>
                <a:spcPts val="1200"/>
              </a:spcAft>
            </a:pPr>
            <a:endParaRPr sz="1800" b="0">
              <a:solidFill>
                <a:srgbClr val="11263A"/>
              </a:solidFill>
              <a:latin typeface="Aptos"/>
            </a:endParaRP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1263A"/>
                </a:solidFill>
                <a:latin typeface="Aptos"/>
              </a:rPr>
              <a:t>THEN  ·  Reconcile 1,541 unmatched captures (₹26.68 lakh), led by UPI (792 / ₹13.76 lakh); review reference variants.</a:t>
            </a:r>
          </a:p>
          <a:p>
            <a:pPr>
              <a:spcAft>
                <a:spcPts val="1200"/>
              </a:spcAft>
            </a:pPr>
            <a:endParaRPr sz="1800" b="0">
              <a:solidFill>
                <a:srgbClr val="11263A"/>
              </a:solidFill>
              <a:latin typeface="Aptos"/>
            </a:endParaRP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1263A"/>
                </a:solidFill>
                <a:latin typeface="Aptos"/>
              </a:rPr>
              <a:t>EFFORT  ·  H1-close city balances (₹ lakh): Bengaluru 46.32; Ahmedabad 36.55; Chennai 33.39; Hyderabad 33.07; Pune 28.28; Jaipur 17.04. Compare with billed value before ranking.</a:t>
            </a:r>
          </a:p>
          <a:p>
            <a:pPr>
              <a:spcAft>
                <a:spcPts val="1200"/>
              </a:spcAft>
            </a:pPr>
            <a:endParaRPr sz="1800" b="0">
              <a:solidFill>
                <a:srgbClr val="11263A"/>
              </a:solidFill>
              <a:latin typeface="Aptos"/>
            </a:endParaRP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1263A"/>
                </a:solidFill>
                <a:latin typeface="Aptos"/>
              </a:rPr>
              <a:t>IF WRONG  ·  False matches may hide genuine exceptions; treating late receipts as losses may drive incorrect collection action.</a:t>
            </a:r>
          </a:p>
          <a:p>
            <a:pPr>
              <a:spcAft>
                <a:spcPts val="1200"/>
              </a:spcAft>
            </a:pPr>
            <a:endParaRPr sz="1800" b="0">
              <a:solidFill>
                <a:srgbClr val="11263A"/>
              </a:solidFill>
              <a:latin typeface="Aptos"/>
            </a:endParaRP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1263A"/>
                </a:solidFill>
                <a:latin typeface="Aptos"/>
              </a:rPr>
              <a:t>TWO MORE DAYS  ·  Complete an independent full-pack cold run and close settlement-to-bank coverage.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A0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10972800" cy="10972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Aptos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0"/>
            <a:ext cx="10058400" cy="9144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Aptos"/>
              </a:rPr>
              <a:t>Audit trail: github.com/RishabhInTech/c2-build1-brief-C-group-10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Aptos"/>
              </a:rPr>
              <a:t>Rishabh branch: docs/brief-c-analysis.md · docs/decisions-log.md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Aptos"/>
              </a:rPr>
              <a:t>feature/brief-c-vysag: docs/approach-log.md · docs/challenges-log.md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>
              <a:gd name="adj" fmla="val 8000"/>
            </a:avLst>
          </a:prstGeom>
          <a:solidFill>
            <a:srgbClr val="4E38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E38AB"/>
                </a:solidFill>
                <a:latin typeface="Arial"/>
              </a:rP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286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690"/>
                </a:solidFill>
                <a:latin typeface="Arial"/>
              </a:rPr>
              <a:t>7 / 8</a:t>
            </a:r>
          </a:p>
        </p:txBody>
      </p:sp>
      <p:pic>
        <p:nvPicPr>
          <p:cNvPr id="5" name="Picture 4" descr="iitgn_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63640"/>
            <a:ext cx="411480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B6690"/>
                </a:solidFill>
                <a:latin typeface="Arial"/>
              </a:rPr>
              <a:t>Indian Institute of Technology Gandhinagar · PG Diploma in AI-ML and Agentic AI Engineering · Cohort 2 · Build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47120" cy="9144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1263A"/>
                </a:solidFill>
                <a:latin typeface="Aptos"/>
              </a:rPr>
              <a:t>Appendix A · Rules that protect the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1456"/>
            <a:ext cx="11247120" cy="4585871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+mj-lt"/>
              </a:rPr>
              <a:t>1  Reporting population</a:t>
            </a: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+mj-lt"/>
              </a:rPr>
              <a:t>H1 invoices dated Jan–Jun; captured payment events evaluated at 30 June and again at 15 July.</a:t>
            </a:r>
          </a:p>
          <a:p>
            <a:pPr>
              <a:spcAft>
                <a:spcPts val="1200"/>
              </a:spcAft>
            </a:pPr>
            <a:endParaRPr sz="1600" b="0" dirty="0">
              <a:solidFill>
                <a:srgbClr val="11263A"/>
              </a:solidFill>
              <a:latin typeface="+mj-lt"/>
            </a:endParaRP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+mj-lt"/>
              </a:rPr>
              <a:t>2  Safe matching</a:t>
            </a: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+mj-lt"/>
              </a:rPr>
              <a:t>Exact invoice ID, then hyphen-stripped canonical key only when unique; no amount/date fuzzy pairing.</a:t>
            </a:r>
          </a:p>
          <a:p>
            <a:pPr>
              <a:spcAft>
                <a:spcPts val="1200"/>
              </a:spcAft>
            </a:pPr>
            <a:endParaRPr sz="1600" b="0" dirty="0">
              <a:solidFill>
                <a:srgbClr val="11263A"/>
              </a:solidFill>
              <a:latin typeface="+mj-lt"/>
            </a:endParaRP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+mj-lt"/>
              </a:rPr>
              <a:t>3  Invoice-level balances</a:t>
            </a: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+mj-lt"/>
              </a:rPr>
              <a:t>Aggregate captured payments per invoice. Do not double-count invoices with repeated payment attempts; do not offset unrelated </a:t>
            </a:r>
            <a:r>
              <a:rPr sz="1600" b="0" dirty="0" err="1">
                <a:solidFill>
                  <a:srgbClr val="11263A"/>
                </a:solidFill>
                <a:latin typeface="+mj-lt"/>
              </a:rPr>
              <a:t>overcaptures</a:t>
            </a:r>
            <a:r>
              <a:rPr sz="1600" b="0" dirty="0">
                <a:solidFill>
                  <a:srgbClr val="11263A"/>
                </a:solidFill>
                <a:latin typeface="+mj-lt"/>
              </a:rPr>
              <a:t>.</a:t>
            </a:r>
          </a:p>
          <a:p>
            <a:pPr>
              <a:spcAft>
                <a:spcPts val="1200"/>
              </a:spcAft>
            </a:pPr>
            <a:endParaRPr sz="1600" b="0" dirty="0">
              <a:solidFill>
                <a:srgbClr val="11263A"/>
              </a:solidFill>
              <a:latin typeface="+mj-lt"/>
            </a:endParaRP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+mj-lt"/>
              </a:rPr>
              <a:t>4  Preserve exceptions</a:t>
            </a: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+mj-lt"/>
              </a:rPr>
              <a:t>Failed attempts are not cash. Unmatched and irregular references remain visible for Finance.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>
              <a:gd name="adj" fmla="val 8000"/>
            </a:avLst>
          </a:prstGeom>
          <a:solidFill>
            <a:srgbClr val="4E38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E38AB"/>
                </a:solidFill>
                <a:latin typeface="Arial"/>
              </a:rPr>
              <a:t>APPENDIX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286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690"/>
                </a:solidFill>
                <a:latin typeface="Arial"/>
              </a:rPr>
              <a:t>8 / 8</a:t>
            </a:r>
          </a:p>
        </p:txBody>
      </p:sp>
      <p:pic>
        <p:nvPicPr>
          <p:cNvPr id="5" name="Picture 4" descr="iitgn_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63640"/>
            <a:ext cx="411480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B6690"/>
                </a:solidFill>
                <a:latin typeface="Arial"/>
              </a:rPr>
              <a:t>Indian Institute of Technology Gandhinagar · PG Diploma in AI-ML and Agentic AI Engineering · Cohort 2 · Build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47120" cy="9144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1263A"/>
                </a:solidFill>
                <a:latin typeface="Aptos"/>
              </a:rPr>
              <a:t>Appendix B · Rebuild status and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11624"/>
            <a:ext cx="11247120" cy="483209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REPORTED WORKFLOW</a:t>
            </a: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Clean finance pack → normalize safe IDs → reconcile invoice-level captures → review H1 cutoff and 15 July → export exception summaries.</a:t>
            </a:r>
          </a:p>
          <a:p>
            <a:pPr>
              <a:spcAft>
                <a:spcPts val="1200"/>
              </a:spcAft>
            </a:pPr>
            <a:endParaRPr sz="1600" b="0" dirty="0">
              <a:solidFill>
                <a:srgbClr val="11263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IS DOCUMENTED</a:t>
            </a: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H1 bridge values and audit rules are reported in the Rishabh branch. A synthetic integration fixture passed.</a:t>
            </a:r>
          </a:p>
          <a:p>
            <a:pPr>
              <a:spcAft>
                <a:spcPts val="1200"/>
              </a:spcAft>
            </a:pPr>
            <a:endParaRPr sz="1600" b="0" dirty="0">
              <a:solidFill>
                <a:srgbClr val="11263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IS NOT YET CONFIRMED</a:t>
            </a: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 independent fresh-</a:t>
            </a:r>
            <a:r>
              <a:rPr sz="1600" b="0" dirty="0" err="1">
                <a:solidFill>
                  <a:srgbClr val="1126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Codespace</a:t>
            </a:r>
            <a:r>
              <a:rPr sz="1600" b="0" dirty="0">
                <a:solidFill>
                  <a:srgbClr val="1126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full-pack cold run, runtime and matching slide-claim commit SHA are not recorded.</a:t>
            </a:r>
          </a:p>
          <a:p>
            <a:pPr>
              <a:spcAft>
                <a:spcPts val="1200"/>
              </a:spcAft>
            </a:pPr>
            <a:endParaRPr sz="1600" b="0" dirty="0">
              <a:solidFill>
                <a:srgbClr val="11263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VYSAG BRANCH LEARNING</a:t>
            </a: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Notebook 02 kernel crashes; invoice/payment profiling continued independently in Notebook 03. Raw full-window counts must not be presented as H1 receipts.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1375</Words>
  <Application>Microsoft Office PowerPoint</Application>
  <PresentationFormat>Widescreen</PresentationFormat>
  <Paragraphs>130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rishabh kothari</dc:creator>
  <cp:keywords/>
  <dc:description>generated using python-pptx</dc:description>
  <cp:lastModifiedBy>rishabh kothari</cp:lastModifiedBy>
  <cp:revision>2</cp:revision>
  <dcterms:created xsi:type="dcterms:W3CDTF">2013-01-27T09:14:16Z</dcterms:created>
  <dcterms:modified xsi:type="dcterms:W3CDTF">2026-10-25T11:50:58Z</dcterms:modified>
  <cp:category/>
</cp:coreProperties>
</file>
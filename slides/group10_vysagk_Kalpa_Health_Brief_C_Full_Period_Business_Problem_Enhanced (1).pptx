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0496" y="0"/>
            <a:ext cx="3651199" cy="6437376"/>
          </a:xfrm>
          <a:prstGeom prst="rect">
            <a:avLst/>
          </a:prstGeom>
          <a:solidFill>
            <a:srgbClr val="152638"/>
          </a:solidFill>
          <a:ln w="12700">
            <a:solidFill>
              <a:srgbClr val="1526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0496" y="274320"/>
            <a:ext cx="0" cy="6144768"/>
          </a:xfrm>
          <a:prstGeom prst="line">
            <a:avLst/>
          </a:prstGeom>
          <a:noFill/>
          <a:ln w="13970">
            <a:solidFill>
              <a:srgbClr val="284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38404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165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·  BUILD WEEK 1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603504" y="841248"/>
            <a:ext cx="7479792" cy="1362456"/>
          </a:xfrm>
          <a:prstGeom prst="roundRect">
            <a:avLst>
              <a:gd name="adj" fmla="val 6376"/>
            </a:avLst>
          </a:prstGeom>
          <a:solidFill>
            <a:srgbClr val="1C3142"/>
          </a:solidFill>
          <a:ln w="12700">
            <a:solidFill>
              <a:srgbClr val="3150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024128"/>
            <a:ext cx="6876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113" kern="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BACKDROP  /  H1 TEST-VOLUME GROWTH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2" kern="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5179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325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6C9C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01768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2" kern="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82512" y="1316736"/>
            <a:ext cx="1389888" cy="621792"/>
          </a:xfrm>
          <a:prstGeom prst="roundRect">
            <a:avLst>
              <a:gd name="adj" fmla="val 10294"/>
            </a:avLst>
          </a:prstGeom>
          <a:solidFill>
            <a:srgbClr val="3B3028"/>
          </a:solidFill>
          <a:ln w="12700">
            <a:solidFill>
              <a:srgbClr val="3B3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356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1728216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62" kern="0" dirty="0">
                <a:solidFill>
                  <a:srgbClr val="E3A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SHORTFALL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03504" y="2432304"/>
            <a:ext cx="1883664" cy="438912"/>
          </a:xfrm>
          <a:prstGeom prst="roundRect">
            <a:avLst>
              <a:gd name="adj" fmla="val 14583"/>
            </a:avLst>
          </a:prstGeom>
          <a:solidFill>
            <a:srgbClr val="36C9C0"/>
          </a:solidFill>
          <a:ln w="12700">
            <a:solidFill>
              <a:srgbClr val="36C9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5420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5" kern="0" dirty="0">
                <a:solidFill>
                  <a:srgbClr val="0D1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06624" y="25237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30" b="1" spc="2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</a:t>
            </a:r>
            <a:endParaRPr lang="en-US" sz="1730" dirty="0"/>
          </a:p>
        </p:txBody>
      </p:sp>
      <p:sp>
        <p:nvSpPr>
          <p:cNvPr id="18" name="Text 16"/>
          <p:cNvSpPr/>
          <p:nvPr/>
        </p:nvSpPr>
        <p:spPr>
          <a:xfrm>
            <a:off x="576072" y="3127248"/>
            <a:ext cx="76260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38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DO INVOICES</a:t>
            </a:r>
            <a:endParaRPr lang="en-US" sz="338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338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AND COLLECTIONS</a:t>
            </a:r>
            <a:endParaRPr lang="en-US" sz="338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338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DISAGREE?</a:t>
            </a:r>
            <a:endParaRPr lang="en-US" sz="3380" dirty="0"/>
          </a:p>
        </p:txBody>
      </p:sp>
      <p:sp>
        <p:nvSpPr>
          <p:cNvPr id="19" name="Text 17"/>
          <p:cNvSpPr/>
          <p:nvPr/>
        </p:nvSpPr>
        <p:spPr>
          <a:xfrm>
            <a:off x="621792" y="4892040"/>
            <a:ext cx="7397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D7E7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raises one invoice per visit. After a payment-gateway switch, billing and card/UPI/cash records use different references, and Finance cannot explain the discrepancy.</a:t>
            </a:r>
            <a:endParaRPr lang="en-US" sz="1410" dirty="0"/>
          </a:p>
        </p:txBody>
      </p:sp>
      <p:sp>
        <p:nvSpPr>
          <p:cNvPr id="20" name="Shape 18"/>
          <p:cNvSpPr/>
          <p:nvPr/>
        </p:nvSpPr>
        <p:spPr>
          <a:xfrm>
            <a:off x="612648" y="5660136"/>
            <a:ext cx="7470648" cy="521208"/>
          </a:xfrm>
          <a:prstGeom prst="roundRect">
            <a:avLst>
              <a:gd name="adj" fmla="val 12281"/>
            </a:avLst>
          </a:prstGeom>
          <a:solidFill>
            <a:srgbClr val="263B49"/>
          </a:solidFill>
          <a:ln w="12700">
            <a:solidFill>
              <a:srgbClr val="263B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5660136"/>
            <a:ext cx="64008" cy="521208"/>
          </a:xfrm>
          <a:prstGeom prst="rect">
            <a:avLst/>
          </a:prstGeom>
          <a:solidFill>
            <a:srgbClr val="E3AD59"/>
          </a:solidFill>
          <a:ln w="12700">
            <a:solidFill>
              <a:srgbClr val="E3AD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790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spc="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MUST SEPARATE:  UNPAID  ·  UNMATCHED  ·  DUPLICATES  ·  TIMING</a:t>
            </a:r>
            <a:endParaRPr lang="en-US" sz="1135" dirty="0"/>
          </a:p>
        </p:txBody>
      </p:sp>
      <p:sp>
        <p:nvSpPr>
          <p:cNvPr id="23" name="Text 21"/>
          <p:cNvSpPr/>
          <p:nvPr/>
        </p:nvSpPr>
        <p:spPr>
          <a:xfrm>
            <a:off x="8851392" y="57607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2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FINANCE PROBLEM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8897112" y="1179576"/>
            <a:ext cx="2880360" cy="1069848"/>
          </a:xfrm>
          <a:prstGeom prst="roundRect">
            <a:avLst>
              <a:gd name="adj" fmla="val 9402"/>
            </a:avLst>
          </a:prstGeom>
          <a:solidFill>
            <a:srgbClr val="213747"/>
          </a:solidFill>
          <a:ln w="12700">
            <a:solidFill>
              <a:srgbClr val="35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97112" y="1179576"/>
            <a:ext cx="56693" cy="1069848"/>
          </a:xfrm>
          <a:prstGeom prst="rect">
            <a:avLst/>
          </a:prstGeom>
          <a:solidFill>
            <a:srgbClr val="36C9C0"/>
          </a:solidFill>
          <a:ln w="12700">
            <a:solidFill>
              <a:srgbClr val="36C9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3441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36C9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9665208" y="133502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SYSTEM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25712" y="1755648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Invoices recorded per visit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10332720" y="2276856"/>
            <a:ext cx="0" cy="530352"/>
          </a:xfrm>
          <a:prstGeom prst="line">
            <a:avLst/>
          </a:prstGeom>
          <a:noFill/>
          <a:ln w="22860">
            <a:solidFill>
              <a:srgbClr val="53768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897112" y="2825496"/>
            <a:ext cx="2880360" cy="1069848"/>
          </a:xfrm>
          <a:prstGeom prst="roundRect">
            <a:avLst>
              <a:gd name="adj" fmla="val 9402"/>
            </a:avLst>
          </a:prstGeom>
          <a:solidFill>
            <a:srgbClr val="213747"/>
          </a:solidFill>
          <a:ln w="12700">
            <a:solidFill>
              <a:srgbClr val="355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97112" y="2825496"/>
            <a:ext cx="56693" cy="1069848"/>
          </a:xfrm>
          <a:prstGeom prst="rect">
            <a:avLst/>
          </a:prstGeom>
          <a:solidFill>
            <a:srgbClr val="E3AD59"/>
          </a:solidFill>
          <a:ln w="12700">
            <a:solidFill>
              <a:srgbClr val="E3AD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25712" y="29900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E3A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9665208" y="298094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SYSTEM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125712" y="3401568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gateway references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10332720" y="3922776"/>
            <a:ext cx="0" cy="530352"/>
          </a:xfrm>
          <a:prstGeom prst="line">
            <a:avLst/>
          </a:prstGeom>
          <a:noFill/>
          <a:ln w="22860">
            <a:solidFill>
              <a:srgbClr val="53768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8897112" y="4471416"/>
            <a:ext cx="2880360" cy="1069848"/>
          </a:xfrm>
          <a:prstGeom prst="roundRect">
            <a:avLst>
              <a:gd name="adj" fmla="val 9402"/>
            </a:avLst>
          </a:prstGeom>
          <a:solidFill>
            <a:srgbClr val="213747"/>
          </a:solidFill>
          <a:ln w="12700">
            <a:solidFill>
              <a:srgbClr val="35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97112" y="4471416"/>
            <a:ext cx="56693" cy="1069848"/>
          </a:xfrm>
          <a:prstGeom prst="rect">
            <a:avLst/>
          </a:prstGeom>
          <a:solidFill>
            <a:srgbClr val="36C9C0"/>
          </a:solidFill>
          <a:ln w="12700">
            <a:solidFill>
              <a:srgbClr val="36C9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25712" y="46360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36C9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9665208" y="46268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QUESTION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125712" y="5047488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difference is real?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814816" y="58521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auditable invoiced-to-collected bridge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10795">
            <a:solidFill>
              <a:srgbClr val="3C5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65288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30" kern="0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/  BRIEF C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3749040" y="6528816"/>
            <a:ext cx="5925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spc="70" kern="0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AVAILABLE EXTRACT  ·  PRELIMINARY FINDINGS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10698480" y="6519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200" kern="0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 THE PICTURE</a:t>
            </a:r>
            <a:endParaRPr lang="en-US" sz="106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8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Two systems. One comparison.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2646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we actually followed — the complete invoice-level bridge is still open.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35838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64008" cy="1097280"/>
          </a:xfrm>
          <a:prstGeom prst="rect">
            <a:avLst/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665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15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EXPORT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50392" y="237744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20" b="1" dirty="0">
                <a:solidFill>
                  <a:srgbClr val="0D192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470,776</a:t>
            </a:r>
            <a:endParaRPr lang="en-US" sz="2820" dirty="0"/>
          </a:p>
        </p:txBody>
      </p:sp>
      <p:sp>
        <p:nvSpPr>
          <p:cNvPr id="9" name="Text 7"/>
          <p:cNvSpPr/>
          <p:nvPr/>
        </p:nvSpPr>
        <p:spPr>
          <a:xfrm>
            <a:off x="3383280" y="2496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records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6236208" y="1874520"/>
            <a:ext cx="535838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874520"/>
            <a:ext cx="64008" cy="1097280"/>
          </a:xfrm>
          <a:prstGeom prst="rect">
            <a:avLst/>
          </a:prstGeom>
          <a:solidFill>
            <a:srgbClr val="078D86"/>
          </a:solidFill>
          <a:ln w="12700">
            <a:solidFill>
              <a:srgbClr val="078D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665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15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 EXPORT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20" b="1" dirty="0">
                <a:solidFill>
                  <a:srgbClr val="078D8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473,507</a:t>
            </a:r>
            <a:endParaRPr lang="en-US" sz="2820" dirty="0"/>
          </a:p>
        </p:txBody>
      </p:sp>
      <p:sp>
        <p:nvSpPr>
          <p:cNvPr id="14" name="Text 12"/>
          <p:cNvSpPr/>
          <p:nvPr/>
        </p:nvSpPr>
        <p:spPr>
          <a:xfrm>
            <a:off x="9025128" y="2496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transactions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3291840" y="2990088"/>
            <a:ext cx="0" cy="320040"/>
          </a:xfrm>
          <a:prstGeom prst="line">
            <a:avLst/>
          </a:prstGeom>
          <a:noFill/>
          <a:ln w="17780">
            <a:solidFill>
              <a:srgbClr val="078D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840" y="2990088"/>
            <a:ext cx="0" cy="320040"/>
          </a:xfrm>
          <a:prstGeom prst="line">
            <a:avLst/>
          </a:prstGeom>
          <a:noFill/>
          <a:ln w="17780">
            <a:solidFill>
              <a:srgbClr val="078D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310128"/>
            <a:ext cx="5715000" cy="0"/>
          </a:xfrm>
          <a:prstGeom prst="line">
            <a:avLst/>
          </a:prstGeom>
          <a:noFill/>
          <a:ln w="17780">
            <a:solidFill>
              <a:srgbClr val="078D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3310128"/>
            <a:ext cx="0" cy="274320"/>
          </a:xfrm>
          <a:prstGeom prst="line">
            <a:avLst/>
          </a:prstGeom>
          <a:noFill/>
          <a:ln w="17780">
            <a:solidFill>
              <a:srgbClr val="078D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593592"/>
            <a:ext cx="2642616" cy="1472184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3767328"/>
            <a:ext cx="457200" cy="457200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8999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1325880" y="3822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35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37083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Rupee amounts, dates,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references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92424" y="3593592"/>
            <a:ext cx="2642616" cy="1472184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3767328"/>
            <a:ext cx="457200" cy="457200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8999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123944" y="3822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35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37083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455,469 captured;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18,038 failed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0488" y="3593592"/>
            <a:ext cx="2642616" cy="1472184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767328"/>
            <a:ext cx="457200" cy="457200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8999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922008" y="3822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35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64224" y="437083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₹73.70 Cr invoiced;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₹71.25 Cr captured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88552" y="3593592"/>
            <a:ext cx="2642616" cy="1472184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3144" y="3767328"/>
            <a:ext cx="457200" cy="457200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26296" y="38999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9720072" y="3822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35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CHECK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62288" y="437083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₹30.45 L captured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1–15 July 2026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94360" y="5376672"/>
            <a:ext cx="11018520" cy="612648"/>
          </a:xfrm>
          <a:prstGeom prst="roundRect">
            <a:avLst>
              <a:gd name="adj" fmla="val 13433"/>
            </a:avLst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" y="55732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COMPLETED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2743200" y="5513832"/>
            <a:ext cx="8348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Invoice-by-invoice allocation, verified unmatched list, and reconciled outstanding balance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10795">
            <a:solidFill>
              <a:srgbClr val="DB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65288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3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/  BRIEF C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3749040" y="6528816"/>
            <a:ext cx="5925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spc="7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AVAILABLE EXTRACT  ·  PRELIMINARY FINDINGS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10698480" y="6519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32688"/>
            <a:ext cx="100584" cy="4663440"/>
          </a:xfrm>
          <a:prstGeom prst="rect">
            <a:avLst/>
          </a:prstGeom>
          <a:solidFill>
            <a:srgbClr val="36C9C0"/>
          </a:solidFill>
          <a:ln w="12700">
            <a:solidFill>
              <a:srgbClr val="36C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" y="1042416"/>
            <a:ext cx="1019556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Across the available financial records, invoices exceed captured payments by ₹2.45 crore — but this is not yet confirmed unpaid money.</a:t>
            </a:r>
            <a:endParaRPr lang="en-US" sz="423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200" kern="0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 THE EVIDENCE</a:t>
            </a:r>
            <a:endParaRPr lang="en-US" sz="106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8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overall numbers show a visible gap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2646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available extracts, not a quarter-specific comparison.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1847088"/>
            <a:ext cx="3593592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47088"/>
            <a:ext cx="59436" cy="1435608"/>
          </a:xfrm>
          <a:prstGeom prst="rect">
            <a:avLst/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48256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INVOICED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35915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D192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₹73.70 Cr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758952" y="297180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470,776 invoices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97680" y="1847088"/>
            <a:ext cx="3593592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47088"/>
            <a:ext cx="59436" cy="1435608"/>
          </a:xfrm>
          <a:prstGeom prst="rect">
            <a:avLst/>
          </a:prstGeom>
          <a:solidFill>
            <a:srgbClr val="078D86"/>
          </a:solidFill>
          <a:ln w="12700">
            <a:solidFill>
              <a:srgbClr val="078D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2048256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CAPTURED PAYMENTS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71416" y="235915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78D8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₹71.25 Cr</a:t>
            </a:r>
            <a:endParaRPr lang="en-US" sz="3050" dirty="0"/>
          </a:p>
        </p:txBody>
      </p:sp>
      <p:sp>
        <p:nvSpPr>
          <p:cNvPr id="14" name="Text 12"/>
          <p:cNvSpPr/>
          <p:nvPr/>
        </p:nvSpPr>
        <p:spPr>
          <a:xfrm>
            <a:off x="4471416" y="297180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455,469 captured transactions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010144" y="1847088"/>
            <a:ext cx="3593592" cy="1435608"/>
          </a:xfrm>
          <a:prstGeom prst="roundRect">
            <a:avLst>
              <a:gd name="adj" fmla="val 8280"/>
            </a:avLst>
          </a:prstGeom>
          <a:solidFill>
            <a:srgbClr val="FBF3E5"/>
          </a:solidFill>
          <a:ln w="12700">
            <a:solidFill>
              <a:srgbClr val="FBF3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847088"/>
            <a:ext cx="59436" cy="1435608"/>
          </a:xfrm>
          <a:prstGeom prst="rect">
            <a:avLst/>
          </a:prstGeom>
          <a:solidFill>
            <a:srgbClr val="AA7330"/>
          </a:solidFill>
          <a:ln w="12700">
            <a:solidFill>
              <a:srgbClr val="AA7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48256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APPARENT DIFFERENCE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235915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AA73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₹2.45 Cr</a:t>
            </a:r>
            <a:endParaRPr lang="en-US" sz="3050" dirty="0"/>
          </a:p>
        </p:txBody>
      </p:sp>
      <p:sp>
        <p:nvSpPr>
          <p:cNvPr id="19" name="Text 17"/>
          <p:cNvSpPr/>
          <p:nvPr/>
        </p:nvSpPr>
        <p:spPr>
          <a:xfrm>
            <a:off x="8183880" y="297180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3.33% of invoiced value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03504" y="35844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BILLED VS CAPTURED  ·  ₹ CRORE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0" y="3941064"/>
            <a:ext cx="0" cy="1709928"/>
          </a:xfrm>
          <a:prstGeom prst="line">
            <a:avLst/>
          </a:prstGeom>
          <a:noFill/>
          <a:ln w="10160">
            <a:solidFill>
              <a:srgbClr val="E6E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5678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992624" y="3941064"/>
            <a:ext cx="0" cy="1709928"/>
          </a:xfrm>
          <a:prstGeom prst="line">
            <a:avLst/>
          </a:prstGeom>
          <a:noFill/>
          <a:ln w="10160">
            <a:solidFill>
              <a:srgbClr val="E6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5678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059168" y="3941064"/>
            <a:ext cx="0" cy="1709928"/>
          </a:xfrm>
          <a:prstGeom prst="line">
            <a:avLst/>
          </a:prstGeom>
          <a:noFill/>
          <a:ln w="10160">
            <a:solidFill>
              <a:srgbClr val="E6EE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5678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125712" y="3941064"/>
            <a:ext cx="0" cy="1709928"/>
          </a:xfrm>
          <a:prstGeom prst="line">
            <a:avLst/>
          </a:prstGeom>
          <a:noFill/>
          <a:ln w="10160">
            <a:solidFill>
              <a:srgbClr val="E6E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5678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1192256" y="3941064"/>
            <a:ext cx="0" cy="1709928"/>
          </a:xfrm>
          <a:prstGeom prst="line">
            <a:avLst/>
          </a:prstGeom>
          <a:noFill/>
          <a:ln w="10160">
            <a:solidFill>
              <a:srgbClr val="E6EE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81944" y="5678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21792" y="4187952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68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26080" y="4096512"/>
            <a:ext cx="7615215" cy="484632"/>
          </a:xfrm>
          <a:prstGeom prst="roundRect">
            <a:avLst>
              <a:gd name="adj" fmla="val 8491"/>
            </a:avLst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7207" y="4224528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73.70</a:t>
            </a:r>
            <a:endParaRPr lang="en-US" sz="1110" dirty="0"/>
          </a:p>
        </p:txBody>
      </p:sp>
      <p:sp>
        <p:nvSpPr>
          <p:cNvPr id="34" name="Text 32"/>
          <p:cNvSpPr/>
          <p:nvPr/>
        </p:nvSpPr>
        <p:spPr>
          <a:xfrm>
            <a:off x="621792" y="4983480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68" kern="0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926080" y="4892040"/>
            <a:ext cx="7362063" cy="484632"/>
          </a:xfrm>
          <a:prstGeom prst="roundRect">
            <a:avLst>
              <a:gd name="adj" fmla="val 8491"/>
            </a:avLst>
          </a:prstGeom>
          <a:solidFill>
            <a:srgbClr val="078D86"/>
          </a:solidFill>
          <a:ln w="12700">
            <a:solidFill>
              <a:srgbClr val="078D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84055" y="5020056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71.25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603504" y="6172200"/>
            <a:ext cx="10890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dates: 30 Dec 2024–30 Jun 2026    |    Captured payment dates: 30 Dec 2024–15 Jul 2026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10795">
            <a:solidFill>
              <a:srgbClr val="DB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65288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3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/  BRIEF C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3749040" y="6528816"/>
            <a:ext cx="5925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spc="7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AVAILABLE EXTRACT  ·  PRELIMINARY FINDINGS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10698480" y="6519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200" kern="0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 CAVEAT AND ALTERNATIVE</a:t>
            </a:r>
            <a:endParaRPr lang="en-US" sz="106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8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₹2.45 Cr difference is not yet “unpaid”.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2646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verified observations explain why a simple subtraction is not a final reconciliation.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65376"/>
            <a:ext cx="4041648" cy="3456432"/>
          </a:xfrm>
          <a:prstGeom prst="roundRect">
            <a:avLst>
              <a:gd name="adj" fmla="val 4233"/>
            </a:avLst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9456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spc="11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1–15, 2026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32104" y="2615184"/>
            <a:ext cx="3429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₹30.45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50392" y="3355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LAKH CAPTURED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858768"/>
            <a:ext cx="3493008" cy="0"/>
          </a:xfrm>
          <a:prstGeom prst="line">
            <a:avLst/>
          </a:prstGeom>
          <a:noFill/>
          <a:ln w="10160">
            <a:solidFill>
              <a:srgbClr val="4062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4059936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1,794 successful transactions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4581144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included in the ₹71.25 Cr captured total — not additional money.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4864608" y="1874520"/>
            <a:ext cx="6739128" cy="950976"/>
          </a:xfrm>
          <a:prstGeom prst="roundRect">
            <a:avLst>
              <a:gd name="adj" fmla="val 817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65776" y="2066544"/>
            <a:ext cx="475488" cy="475488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1991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0" b="1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cut-off dates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5760720" y="2404872"/>
            <a:ext cx="5550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Invoices stop on 30 June, while captured payments run to 15 July.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64608" y="2962656"/>
            <a:ext cx="6739128" cy="950976"/>
          </a:xfrm>
          <a:prstGeom prst="roundRect">
            <a:avLst>
              <a:gd name="adj" fmla="val 817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3154680"/>
            <a:ext cx="475488" cy="475488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2872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760720" y="3099816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0" b="1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payments per invoice</a:t>
            </a:r>
            <a:endParaRPr lang="en-US" sz="1570" dirty="0"/>
          </a:p>
        </p:txBody>
      </p:sp>
      <p:sp>
        <p:nvSpPr>
          <p:cNvPr id="21" name="Text 19"/>
          <p:cNvSpPr/>
          <p:nvPr/>
        </p:nvSpPr>
        <p:spPr>
          <a:xfrm>
            <a:off x="5760720" y="3493008"/>
            <a:ext cx="5550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1,925 invoices have more than one captured payment record.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64608" y="4050792"/>
            <a:ext cx="6739128" cy="950976"/>
          </a:xfrm>
          <a:prstGeom prst="roundRect">
            <a:avLst>
              <a:gd name="adj" fmla="val 817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65776" y="4242816"/>
            <a:ext cx="475488" cy="475488"/>
          </a:xfrm>
          <a:prstGeom prst="ellipse">
            <a:avLst/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43754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78D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5760720" y="4187952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0" b="1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≠ collected</a:t>
            </a:r>
            <a:endParaRPr lang="en-US" sz="1570" dirty="0"/>
          </a:p>
        </p:txBody>
      </p:sp>
      <p:sp>
        <p:nvSpPr>
          <p:cNvPr id="26" name="Text 24"/>
          <p:cNvSpPr/>
          <p:nvPr/>
        </p:nvSpPr>
        <p:spPr>
          <a:xfrm>
            <a:off x="5760720" y="4581144"/>
            <a:ext cx="5550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18,038 failed attempts worth ₹2.81 Cr attempted; none counted as captured.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56048" y="5266944"/>
            <a:ext cx="6501384" cy="0"/>
          </a:xfrm>
          <a:prstGeom prst="line">
            <a:avLst/>
          </a:prstGeom>
          <a:noFill/>
          <a:ln w="12700">
            <a:solidFill>
              <a:srgbClr val="DB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54681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spc="80" kern="0" dirty="0">
                <a:solidFill>
                  <a:srgbClr val="AA7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 SHORTCUT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7104888" y="5431536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“Gap = unpaid invoices.”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92624" y="5843016"/>
            <a:ext cx="6446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3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test: match payments by invoice, then separate timing. Failed attempts may later be retried successfully.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10795">
            <a:solidFill>
              <a:srgbClr val="DBE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65288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3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/  BRIEF C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749040" y="6528816"/>
            <a:ext cx="5925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spc="70" kern="0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AVAILABLE EXTRACT  ·  PRELIMINARY FINDINGS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10698480" y="6519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72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20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 THE ACTION</a:t>
            </a:r>
            <a:endParaRPr lang="en-US" sz="106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27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Turn the gap into an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auditable finance list.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76656" y="2404872"/>
            <a:ext cx="475488" cy="475488"/>
          </a:xfrm>
          <a:prstGeom prst="ellipse">
            <a:avLst/>
          </a:prstGeom>
          <a:solidFill>
            <a:srgbClr val="274754"/>
          </a:solidFill>
          <a:ln w="12700">
            <a:solidFill>
              <a:srgbClr val="274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32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89888" y="2331720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Choose one reporting cut-off</a:t>
            </a:r>
            <a:endParaRPr lang="en-US" sz="2030" dirty="0"/>
          </a:p>
        </p:txBody>
      </p:sp>
      <p:sp>
        <p:nvSpPr>
          <p:cNvPr id="7" name="Text 5"/>
          <p:cNvSpPr/>
          <p:nvPr/>
        </p:nvSpPr>
        <p:spPr>
          <a:xfrm>
            <a:off x="1389888" y="2724912"/>
            <a:ext cx="9738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matching dates before calling any difference a period result.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1389888" y="3163824"/>
            <a:ext cx="10113264" cy="0"/>
          </a:xfrm>
          <a:prstGeom prst="line">
            <a:avLst/>
          </a:prstGeom>
          <a:noFill/>
          <a:ln w="11430">
            <a:solidFill>
              <a:srgbClr val="2D47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3310128"/>
            <a:ext cx="475488" cy="475488"/>
          </a:xfrm>
          <a:prstGeom prst="ellipse">
            <a:avLst/>
          </a:prstGeom>
          <a:solidFill>
            <a:srgbClr val="274754"/>
          </a:solidFill>
          <a:ln w="12700">
            <a:solidFill>
              <a:srgbClr val="274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38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3236976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Reconcile payments by invoice</a:t>
            </a:r>
            <a:endParaRPr lang="en-US" sz="2030" dirty="0"/>
          </a:p>
        </p:txBody>
      </p:sp>
      <p:sp>
        <p:nvSpPr>
          <p:cNvPr id="12" name="Text 10"/>
          <p:cNvSpPr/>
          <p:nvPr/>
        </p:nvSpPr>
        <p:spPr>
          <a:xfrm>
            <a:off x="1389888" y="3630168"/>
            <a:ext cx="9738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captured payments per invoice; check absent, partial and late matches.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1389888" y="4069080"/>
            <a:ext cx="10113264" cy="0"/>
          </a:xfrm>
          <a:prstGeom prst="line">
            <a:avLst/>
          </a:prstGeom>
          <a:noFill/>
          <a:ln w="11430">
            <a:solidFill>
              <a:srgbClr val="2D47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4215384"/>
            <a:ext cx="475488" cy="475488"/>
          </a:xfrm>
          <a:prstGeom prst="ellipse">
            <a:avLst/>
          </a:prstGeom>
          <a:solidFill>
            <a:srgbClr val="274754"/>
          </a:solidFill>
          <a:ln w="12700">
            <a:solidFill>
              <a:srgbClr val="274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4142232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Escalate the exceptions</a:t>
            </a:r>
            <a:endParaRPr lang="en-US" sz="2030" dirty="0"/>
          </a:p>
        </p:txBody>
      </p:sp>
      <p:sp>
        <p:nvSpPr>
          <p:cNvPr id="17" name="Text 15"/>
          <p:cNvSpPr/>
          <p:nvPr/>
        </p:nvSpPr>
        <p:spPr>
          <a:xfrm>
            <a:off x="1389888" y="4535424"/>
            <a:ext cx="9738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reviews unresolved references before reporting an unpaid amount.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594360" y="5294376"/>
            <a:ext cx="10981944" cy="731520"/>
          </a:xfrm>
          <a:prstGeom prst="roundRect">
            <a:avLst>
              <a:gd name="adj" fmla="val 12500"/>
            </a:avLst>
          </a:prstGeom>
          <a:solidFill>
            <a:srgbClr val="1B3141"/>
          </a:solidFill>
          <a:ln w="12700">
            <a:solidFill>
              <a:srgbClr val="1B31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046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spc="100" kern="0" dirty="0">
                <a:solidFill>
                  <a:srgbClr val="9D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709928" y="54223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+ finance review; cost not estimated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1344" y="5477256"/>
            <a:ext cx="0" cy="356616"/>
          </a:xfrm>
          <a:prstGeom prst="line">
            <a:avLst/>
          </a:prstGeom>
          <a:noFill/>
          <a:ln w="12700">
            <a:solidFill>
              <a:srgbClr val="4564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5504688"/>
            <a:ext cx="649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spc="100" kern="0" dirty="0">
                <a:solidFill>
                  <a:srgbClr val="E3A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123176" y="542239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a gap as unpaid money without proof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" y="6172200"/>
            <a:ext cx="10917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spc="74" kern="0" dirty="0">
                <a:solidFill>
                  <a:srgbClr val="C3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STATUS: OVERALL COMPARISON COMPLETE  ·  INVOICE-LEVEL RECONCILIATION NOT COMPLETE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10795">
            <a:solidFill>
              <a:srgbClr val="3C52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65288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30" kern="0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KALPA HEALTH  /  BRIEF C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3749040" y="6528816"/>
            <a:ext cx="5925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spc="70" kern="0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AVAILABLE EXTRACT  ·  PRELIMINARY FINDINGS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10698480" y="6519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8299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IIT Gandhinagar — Build Week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Kalpa Health | Why Invoices and Collections Disagree</dc:title>
  <dc:subject>Full available financial extract — invoice / captured payment observations</dc:subject>
  <dc:creator>Kalpa Health | Brief C</dc:creator>
  <cp:lastModifiedBy>Kalpa Health | Brief C</cp:lastModifiedBy>
  <cp:revision>1</cp:revision>
  <dcterms:created xsi:type="dcterms:W3CDTF">2026-10-24T14:34:42Z</dcterms:created>
  <dcterms:modified xsi:type="dcterms:W3CDTF">2026-10-24T14:34:42Z</dcterms:modified>
</cp:coreProperties>
</file>